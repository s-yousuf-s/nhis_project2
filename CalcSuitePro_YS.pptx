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18"/>
  </p:notesMasterIdLst>
  <p:sldIdLst>
    <p:sldId id="257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2A9D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7" autoAdjust="0"/>
    <p:restoredTop sz="81438" autoAdjust="0"/>
  </p:normalViewPr>
  <p:slideViewPr>
    <p:cSldViewPr snapToGrid="0">
      <p:cViewPr varScale="1">
        <p:scale>
          <a:sx n="67" d="100"/>
          <a:sy n="67" d="100"/>
        </p:scale>
        <p:origin x="1368" y="72"/>
      </p:cViewPr>
      <p:guideLst/>
    </p:cSldViewPr>
  </p:slideViewPr>
  <p:notesTextViewPr>
    <p:cViewPr>
      <p:scale>
        <a:sx n="1" d="1"/>
        <a:sy n="1" d="1"/>
      </p:scale>
      <p:origin x="0" y="-192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ED357C-3241-4E74-82B7-71501626410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B0A1D12-0DF5-401D-88D5-A614C0AE08E2}">
      <dgm:prSet phldrT="[Text]" phldr="0" custT="1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IN" sz="2400" dirty="0">
              <a:latin typeface="Segoe UI" panose="020B0502040204020203" pitchFamily="34" charset="0"/>
              <a:cs typeface="Segoe UI" panose="020B0502040204020203" pitchFamily="34" charset="0"/>
            </a:rPr>
            <a:t>+</a:t>
          </a:r>
        </a:p>
      </dgm:t>
    </dgm:pt>
    <dgm:pt modelId="{24C918D0-E152-42C7-8A39-E1AD3AA8597F}" type="parTrans" cxnId="{0162650A-D43E-4120-A5FF-1D163C3C6819}">
      <dgm:prSet/>
      <dgm:spPr/>
      <dgm:t>
        <a:bodyPr/>
        <a:lstStyle/>
        <a:p>
          <a:endParaRPr lang="en-IN"/>
        </a:p>
      </dgm:t>
    </dgm:pt>
    <dgm:pt modelId="{C83ABD54-C5F9-41C4-BB43-FC36AE6E7201}" type="sibTrans" cxnId="{0162650A-D43E-4120-A5FF-1D163C3C6819}">
      <dgm:prSet/>
      <dgm:spPr/>
      <dgm:t>
        <a:bodyPr/>
        <a:lstStyle/>
        <a:p>
          <a:endParaRPr lang="en-IN"/>
        </a:p>
      </dgm:t>
    </dgm:pt>
    <dgm:pt modelId="{710DFDB4-BAC5-487F-9B53-2432E919F6AF}" type="asst">
      <dgm:prSet phldrT="[Text]" phldr="0" custT="1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IN" sz="2400" dirty="0">
              <a:latin typeface="Segoe UI" panose="020B0502040204020203" pitchFamily="34" charset="0"/>
              <a:cs typeface="Segoe UI" panose="020B0502040204020203" pitchFamily="34" charset="0"/>
            </a:rPr>
            <a:t>*</a:t>
          </a:r>
        </a:p>
      </dgm:t>
    </dgm:pt>
    <dgm:pt modelId="{2B672AD3-1FF5-4C81-BB2F-220D7D27585A}" type="parTrans" cxnId="{6BFACBB6-DD14-48B3-936A-D160C3AB33DF}">
      <dgm:prSet/>
      <dgm:spPr/>
      <dgm:t>
        <a:bodyPr/>
        <a:lstStyle/>
        <a:p>
          <a:endParaRPr lang="en-IN"/>
        </a:p>
      </dgm:t>
    </dgm:pt>
    <dgm:pt modelId="{BE35127B-C356-426E-BEFD-2B4B366D7D50}" type="sibTrans" cxnId="{6BFACBB6-DD14-48B3-936A-D160C3AB33DF}">
      <dgm:prSet/>
      <dgm:spPr/>
      <dgm:t>
        <a:bodyPr/>
        <a:lstStyle/>
        <a:p>
          <a:endParaRPr lang="en-IN"/>
        </a:p>
      </dgm:t>
    </dgm:pt>
    <dgm:pt modelId="{74D5400F-DD3C-4114-B2AD-832F889F4771}" type="asst">
      <dgm:prSet phldrT="[Text]" phldr="0" custT="1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IN" sz="2400" dirty="0">
              <a:latin typeface="Segoe UI" panose="020B0502040204020203" pitchFamily="34" charset="0"/>
              <a:cs typeface="Segoe UI" panose="020B0502040204020203" pitchFamily="34" charset="0"/>
            </a:rPr>
            <a:t>5</a:t>
          </a:r>
        </a:p>
      </dgm:t>
    </dgm:pt>
    <dgm:pt modelId="{D34629FD-517E-4F85-8635-F00A2D172F89}" type="parTrans" cxnId="{31CFBA52-C58E-43F4-A378-ED02F28E1F19}">
      <dgm:prSet/>
      <dgm:spPr/>
      <dgm:t>
        <a:bodyPr/>
        <a:lstStyle/>
        <a:p>
          <a:endParaRPr lang="en-IN"/>
        </a:p>
      </dgm:t>
    </dgm:pt>
    <dgm:pt modelId="{13A1BCEE-0176-4182-85DE-11B584C6D85E}" type="sibTrans" cxnId="{31CFBA52-C58E-43F4-A378-ED02F28E1F19}">
      <dgm:prSet/>
      <dgm:spPr/>
      <dgm:t>
        <a:bodyPr/>
        <a:lstStyle/>
        <a:p>
          <a:endParaRPr lang="en-IN"/>
        </a:p>
      </dgm:t>
    </dgm:pt>
    <dgm:pt modelId="{E8E65A16-7A7C-4BB5-9AB5-161FFA35631E}" type="asst">
      <dgm:prSet phldrT="[Text]" phldr="0" custT="1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IN" sz="2400" dirty="0">
              <a:latin typeface="Segoe UI" panose="020B0502040204020203" pitchFamily="34" charset="0"/>
              <a:cs typeface="Segoe UI" panose="020B0502040204020203" pitchFamily="34" charset="0"/>
            </a:rPr>
            <a:t>2</a:t>
          </a:r>
        </a:p>
      </dgm:t>
    </dgm:pt>
    <dgm:pt modelId="{4EC772FB-759E-4DA8-BB92-C53B850F4569}" type="parTrans" cxnId="{FB8D4658-CA94-439C-BF8A-7A10A52B8F5C}">
      <dgm:prSet/>
      <dgm:spPr/>
      <dgm:t>
        <a:bodyPr/>
        <a:lstStyle/>
        <a:p>
          <a:endParaRPr lang="en-IN"/>
        </a:p>
      </dgm:t>
    </dgm:pt>
    <dgm:pt modelId="{B575E974-2E8E-409A-BBC1-6695C286B14D}" type="sibTrans" cxnId="{FB8D4658-CA94-439C-BF8A-7A10A52B8F5C}">
      <dgm:prSet/>
      <dgm:spPr/>
      <dgm:t>
        <a:bodyPr/>
        <a:lstStyle/>
        <a:p>
          <a:endParaRPr lang="en-IN"/>
        </a:p>
      </dgm:t>
    </dgm:pt>
    <dgm:pt modelId="{3AA20254-EF6B-47CD-A788-363B7D644350}" type="asst">
      <dgm:prSet phldrT="[Text]" phldr="0" custT="1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IN" sz="2400" dirty="0">
              <a:latin typeface="Segoe UI" panose="020B0502040204020203" pitchFamily="34" charset="0"/>
              <a:cs typeface="Segoe UI" panose="020B0502040204020203" pitchFamily="34" charset="0"/>
            </a:rPr>
            <a:t>x</a:t>
          </a:r>
        </a:p>
      </dgm:t>
    </dgm:pt>
    <dgm:pt modelId="{1CF951A0-F1BD-4771-A081-5DECD54F296D}" type="parTrans" cxnId="{9E86B84C-1063-4AD2-BCF2-81604BCB415A}">
      <dgm:prSet/>
      <dgm:spPr/>
      <dgm:t>
        <a:bodyPr/>
        <a:lstStyle/>
        <a:p>
          <a:endParaRPr lang="en-IN"/>
        </a:p>
      </dgm:t>
    </dgm:pt>
    <dgm:pt modelId="{B8E4FEFC-3F94-42BF-B31D-25FA3D67E5B7}" type="sibTrans" cxnId="{9E86B84C-1063-4AD2-BCF2-81604BCB415A}">
      <dgm:prSet/>
      <dgm:spPr/>
      <dgm:t>
        <a:bodyPr/>
        <a:lstStyle/>
        <a:p>
          <a:endParaRPr lang="en-IN"/>
        </a:p>
      </dgm:t>
    </dgm:pt>
    <dgm:pt modelId="{A85D805C-9125-409E-B884-B13E1750B909}" type="pres">
      <dgm:prSet presAssocID="{CCED357C-3241-4E74-82B7-71501626410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B71C4B3-F386-44E5-85CD-1E088B165406}" type="pres">
      <dgm:prSet presAssocID="{2B0A1D12-0DF5-401D-88D5-A614C0AE08E2}" presName="hierRoot1" presStyleCnt="0">
        <dgm:presLayoutVars>
          <dgm:hierBranch val="init"/>
        </dgm:presLayoutVars>
      </dgm:prSet>
      <dgm:spPr/>
    </dgm:pt>
    <dgm:pt modelId="{ACEFA65B-6503-4FBF-BC52-938556C9D2DA}" type="pres">
      <dgm:prSet presAssocID="{2B0A1D12-0DF5-401D-88D5-A614C0AE08E2}" presName="rootComposite1" presStyleCnt="0"/>
      <dgm:spPr/>
    </dgm:pt>
    <dgm:pt modelId="{606BA29E-E873-40A6-9B69-C3D5A8CF03C3}" type="pres">
      <dgm:prSet presAssocID="{2B0A1D12-0DF5-401D-88D5-A614C0AE08E2}" presName="rootText1" presStyleLbl="node0" presStyleIdx="0" presStyleCnt="1">
        <dgm:presLayoutVars>
          <dgm:chPref val="3"/>
        </dgm:presLayoutVars>
      </dgm:prSet>
      <dgm:spPr/>
    </dgm:pt>
    <dgm:pt modelId="{810B6C45-9AF0-4B81-B7A7-E00B4F6FC83C}" type="pres">
      <dgm:prSet presAssocID="{2B0A1D12-0DF5-401D-88D5-A614C0AE08E2}" presName="rootConnector1" presStyleLbl="node1" presStyleIdx="0" presStyleCnt="0"/>
      <dgm:spPr/>
    </dgm:pt>
    <dgm:pt modelId="{3DC14CE9-F493-48BF-AB67-9531782BD851}" type="pres">
      <dgm:prSet presAssocID="{2B0A1D12-0DF5-401D-88D5-A614C0AE08E2}" presName="hierChild2" presStyleCnt="0"/>
      <dgm:spPr/>
    </dgm:pt>
    <dgm:pt modelId="{0E345289-6DE8-487F-8653-0146623B9F10}" type="pres">
      <dgm:prSet presAssocID="{2B0A1D12-0DF5-401D-88D5-A614C0AE08E2}" presName="hierChild3" presStyleCnt="0"/>
      <dgm:spPr/>
    </dgm:pt>
    <dgm:pt modelId="{E9F684AE-38DD-424B-B9FD-B3F1B9353404}" type="pres">
      <dgm:prSet presAssocID="{2B672AD3-1FF5-4C81-BB2F-220D7D27585A}" presName="Name111" presStyleLbl="parChTrans1D2" presStyleIdx="0" presStyleCnt="2"/>
      <dgm:spPr/>
    </dgm:pt>
    <dgm:pt modelId="{5B1F61EA-0018-40B5-B075-C52D187DA59E}" type="pres">
      <dgm:prSet presAssocID="{710DFDB4-BAC5-487F-9B53-2432E919F6AF}" presName="hierRoot3" presStyleCnt="0">
        <dgm:presLayoutVars>
          <dgm:hierBranch/>
        </dgm:presLayoutVars>
      </dgm:prSet>
      <dgm:spPr/>
    </dgm:pt>
    <dgm:pt modelId="{41C95481-2FEE-4043-9898-3E6A753DBB33}" type="pres">
      <dgm:prSet presAssocID="{710DFDB4-BAC5-487F-9B53-2432E919F6AF}" presName="rootComposite3" presStyleCnt="0"/>
      <dgm:spPr/>
    </dgm:pt>
    <dgm:pt modelId="{DDB0BEC3-6297-424F-B3DB-3CA2867F325A}" type="pres">
      <dgm:prSet presAssocID="{710DFDB4-BAC5-487F-9B53-2432E919F6AF}" presName="rootText3" presStyleLbl="asst1" presStyleIdx="0" presStyleCnt="4">
        <dgm:presLayoutVars>
          <dgm:chPref val="3"/>
        </dgm:presLayoutVars>
      </dgm:prSet>
      <dgm:spPr/>
    </dgm:pt>
    <dgm:pt modelId="{8437C63F-0F3F-491E-A46A-218538B30DA9}" type="pres">
      <dgm:prSet presAssocID="{710DFDB4-BAC5-487F-9B53-2432E919F6AF}" presName="rootConnector3" presStyleLbl="asst1" presStyleIdx="0" presStyleCnt="4"/>
      <dgm:spPr/>
    </dgm:pt>
    <dgm:pt modelId="{F8ED1799-F79F-4468-8DBD-B75BF8E40129}" type="pres">
      <dgm:prSet presAssocID="{710DFDB4-BAC5-487F-9B53-2432E919F6AF}" presName="hierChild6" presStyleCnt="0"/>
      <dgm:spPr/>
    </dgm:pt>
    <dgm:pt modelId="{ED64B96E-E16D-46F7-BDB9-92A3F87E8404}" type="pres">
      <dgm:prSet presAssocID="{710DFDB4-BAC5-487F-9B53-2432E919F6AF}" presName="hierChild7" presStyleCnt="0"/>
      <dgm:spPr/>
    </dgm:pt>
    <dgm:pt modelId="{6F0BA9D6-B67F-4177-BCF9-B8DD2D9048E8}" type="pres">
      <dgm:prSet presAssocID="{4EC772FB-759E-4DA8-BB92-C53B850F4569}" presName="Name111" presStyleLbl="parChTrans1D3" presStyleIdx="0" presStyleCnt="2"/>
      <dgm:spPr/>
    </dgm:pt>
    <dgm:pt modelId="{273D97DE-D3B4-47E1-87C3-0C51943F9D30}" type="pres">
      <dgm:prSet presAssocID="{E8E65A16-7A7C-4BB5-9AB5-161FFA35631E}" presName="hierRoot3" presStyleCnt="0">
        <dgm:presLayoutVars>
          <dgm:hierBranch val="init"/>
        </dgm:presLayoutVars>
      </dgm:prSet>
      <dgm:spPr/>
    </dgm:pt>
    <dgm:pt modelId="{495D76A1-FE6D-454C-A88D-506E4F2A24E9}" type="pres">
      <dgm:prSet presAssocID="{E8E65A16-7A7C-4BB5-9AB5-161FFA35631E}" presName="rootComposite3" presStyleCnt="0"/>
      <dgm:spPr/>
    </dgm:pt>
    <dgm:pt modelId="{729A4B7F-30B4-4D49-A9C2-3CA9F046BCF6}" type="pres">
      <dgm:prSet presAssocID="{E8E65A16-7A7C-4BB5-9AB5-161FFA35631E}" presName="rootText3" presStyleLbl="asst1" presStyleIdx="1" presStyleCnt="4">
        <dgm:presLayoutVars>
          <dgm:chPref val="3"/>
        </dgm:presLayoutVars>
      </dgm:prSet>
      <dgm:spPr/>
    </dgm:pt>
    <dgm:pt modelId="{A856A5E0-113B-4325-9D14-501BD296F946}" type="pres">
      <dgm:prSet presAssocID="{E8E65A16-7A7C-4BB5-9AB5-161FFA35631E}" presName="rootConnector3" presStyleLbl="asst1" presStyleIdx="1" presStyleCnt="4"/>
      <dgm:spPr/>
    </dgm:pt>
    <dgm:pt modelId="{012A237B-AF38-4966-868F-E4B84FE1E278}" type="pres">
      <dgm:prSet presAssocID="{E8E65A16-7A7C-4BB5-9AB5-161FFA35631E}" presName="hierChild6" presStyleCnt="0"/>
      <dgm:spPr/>
    </dgm:pt>
    <dgm:pt modelId="{1BC6653B-5B74-4314-9EF7-B9EC4FC74B4F}" type="pres">
      <dgm:prSet presAssocID="{E8E65A16-7A7C-4BB5-9AB5-161FFA35631E}" presName="hierChild7" presStyleCnt="0"/>
      <dgm:spPr/>
    </dgm:pt>
    <dgm:pt modelId="{50067B46-A8DA-4DF5-AFDF-89D6D6F4DC52}" type="pres">
      <dgm:prSet presAssocID="{1CF951A0-F1BD-4771-A081-5DECD54F296D}" presName="Name111" presStyleLbl="parChTrans1D3" presStyleIdx="1" presStyleCnt="2"/>
      <dgm:spPr/>
    </dgm:pt>
    <dgm:pt modelId="{90FB822B-836C-4D38-B98C-4A0F50B724E9}" type="pres">
      <dgm:prSet presAssocID="{3AA20254-EF6B-47CD-A788-363B7D644350}" presName="hierRoot3" presStyleCnt="0">
        <dgm:presLayoutVars>
          <dgm:hierBranch val="init"/>
        </dgm:presLayoutVars>
      </dgm:prSet>
      <dgm:spPr/>
    </dgm:pt>
    <dgm:pt modelId="{04C41CBB-6DB9-4AC3-9FAA-5E339AEED379}" type="pres">
      <dgm:prSet presAssocID="{3AA20254-EF6B-47CD-A788-363B7D644350}" presName="rootComposite3" presStyleCnt="0"/>
      <dgm:spPr/>
    </dgm:pt>
    <dgm:pt modelId="{41C88635-ABD5-4DAC-A930-D78211A19972}" type="pres">
      <dgm:prSet presAssocID="{3AA20254-EF6B-47CD-A788-363B7D644350}" presName="rootText3" presStyleLbl="asst1" presStyleIdx="2" presStyleCnt="4" custLinFactNeighborX="-3296">
        <dgm:presLayoutVars>
          <dgm:chPref val="3"/>
        </dgm:presLayoutVars>
      </dgm:prSet>
      <dgm:spPr/>
    </dgm:pt>
    <dgm:pt modelId="{71BCDD67-2DA1-439B-9E4C-B9EB487538D9}" type="pres">
      <dgm:prSet presAssocID="{3AA20254-EF6B-47CD-A788-363B7D644350}" presName="rootConnector3" presStyleLbl="asst1" presStyleIdx="2" presStyleCnt="4"/>
      <dgm:spPr/>
    </dgm:pt>
    <dgm:pt modelId="{8F6AE170-DEBC-4BDC-B3CD-036913A1BAD9}" type="pres">
      <dgm:prSet presAssocID="{3AA20254-EF6B-47CD-A788-363B7D644350}" presName="hierChild6" presStyleCnt="0"/>
      <dgm:spPr/>
    </dgm:pt>
    <dgm:pt modelId="{388FB2B7-57B6-42D8-A03C-7FD3423C618D}" type="pres">
      <dgm:prSet presAssocID="{3AA20254-EF6B-47CD-A788-363B7D644350}" presName="hierChild7" presStyleCnt="0"/>
      <dgm:spPr/>
    </dgm:pt>
    <dgm:pt modelId="{560AB0AD-DBFA-4FEF-8543-5798EBF0591D}" type="pres">
      <dgm:prSet presAssocID="{D34629FD-517E-4F85-8635-F00A2D172F89}" presName="Name111" presStyleLbl="parChTrans1D2" presStyleIdx="1" presStyleCnt="2"/>
      <dgm:spPr/>
    </dgm:pt>
    <dgm:pt modelId="{06DBBBCC-2C5B-48EB-8904-5E43C82E7151}" type="pres">
      <dgm:prSet presAssocID="{74D5400F-DD3C-4114-B2AD-832F889F4771}" presName="hierRoot3" presStyleCnt="0">
        <dgm:presLayoutVars>
          <dgm:hierBranch val="init"/>
        </dgm:presLayoutVars>
      </dgm:prSet>
      <dgm:spPr/>
    </dgm:pt>
    <dgm:pt modelId="{1C21F560-A242-4844-A46D-C70929229E94}" type="pres">
      <dgm:prSet presAssocID="{74D5400F-DD3C-4114-B2AD-832F889F4771}" presName="rootComposite3" presStyleCnt="0"/>
      <dgm:spPr/>
    </dgm:pt>
    <dgm:pt modelId="{27565E7D-EAB8-49F4-9E89-7F14C3BB7DD4}" type="pres">
      <dgm:prSet presAssocID="{74D5400F-DD3C-4114-B2AD-832F889F4771}" presName="rootText3" presStyleLbl="asst1" presStyleIdx="3" presStyleCnt="4" custLinFactNeighborX="64760" custLinFactNeighborY="-283">
        <dgm:presLayoutVars>
          <dgm:chPref val="3"/>
        </dgm:presLayoutVars>
      </dgm:prSet>
      <dgm:spPr/>
    </dgm:pt>
    <dgm:pt modelId="{42F18D3F-3FC5-4DB1-A9F4-EA6132C9F5B8}" type="pres">
      <dgm:prSet presAssocID="{74D5400F-DD3C-4114-B2AD-832F889F4771}" presName="rootConnector3" presStyleLbl="asst1" presStyleIdx="3" presStyleCnt="4"/>
      <dgm:spPr/>
    </dgm:pt>
    <dgm:pt modelId="{4FA6336A-10F1-4E40-B2FE-6B706B4EFB45}" type="pres">
      <dgm:prSet presAssocID="{74D5400F-DD3C-4114-B2AD-832F889F4771}" presName="hierChild6" presStyleCnt="0"/>
      <dgm:spPr/>
    </dgm:pt>
    <dgm:pt modelId="{DBB1FEC9-94CE-40E9-84ED-FB9BF628C549}" type="pres">
      <dgm:prSet presAssocID="{74D5400F-DD3C-4114-B2AD-832F889F4771}" presName="hierChild7" presStyleCnt="0"/>
      <dgm:spPr/>
    </dgm:pt>
  </dgm:ptLst>
  <dgm:cxnLst>
    <dgm:cxn modelId="{6C2F170A-ABA0-47DE-8160-99DC077D428F}" type="presOf" srcId="{74D5400F-DD3C-4114-B2AD-832F889F4771}" destId="{27565E7D-EAB8-49F4-9E89-7F14C3BB7DD4}" srcOrd="0" destOrd="0" presId="urn:microsoft.com/office/officeart/2005/8/layout/orgChart1"/>
    <dgm:cxn modelId="{0162650A-D43E-4120-A5FF-1D163C3C6819}" srcId="{CCED357C-3241-4E74-82B7-715016264109}" destId="{2B0A1D12-0DF5-401D-88D5-A614C0AE08E2}" srcOrd="0" destOrd="0" parTransId="{24C918D0-E152-42C7-8A39-E1AD3AA8597F}" sibTransId="{C83ABD54-C5F9-41C4-BB43-FC36AE6E7201}"/>
    <dgm:cxn modelId="{F48C350E-6663-4343-8A8D-E14ACDF27CB9}" type="presOf" srcId="{CCED357C-3241-4E74-82B7-715016264109}" destId="{A85D805C-9125-409E-B884-B13E1750B909}" srcOrd="0" destOrd="0" presId="urn:microsoft.com/office/officeart/2005/8/layout/orgChart1"/>
    <dgm:cxn modelId="{1CDF550E-96B4-45A8-8DC8-96867C703AFD}" type="presOf" srcId="{E8E65A16-7A7C-4BB5-9AB5-161FFA35631E}" destId="{729A4B7F-30B4-4D49-A9C2-3CA9F046BCF6}" srcOrd="0" destOrd="0" presId="urn:microsoft.com/office/officeart/2005/8/layout/orgChart1"/>
    <dgm:cxn modelId="{5CEAB412-EDBE-432F-BFF7-B1738BF047DC}" type="presOf" srcId="{74D5400F-DD3C-4114-B2AD-832F889F4771}" destId="{42F18D3F-3FC5-4DB1-A9F4-EA6132C9F5B8}" srcOrd="1" destOrd="0" presId="urn:microsoft.com/office/officeart/2005/8/layout/orgChart1"/>
    <dgm:cxn modelId="{0BB29E1D-1066-483D-8F01-8934FF977A7B}" type="presOf" srcId="{2B0A1D12-0DF5-401D-88D5-A614C0AE08E2}" destId="{606BA29E-E873-40A6-9B69-C3D5A8CF03C3}" srcOrd="0" destOrd="0" presId="urn:microsoft.com/office/officeart/2005/8/layout/orgChart1"/>
    <dgm:cxn modelId="{65BF0928-5CED-459C-AC58-8CF79BC323E3}" type="presOf" srcId="{3AA20254-EF6B-47CD-A788-363B7D644350}" destId="{41C88635-ABD5-4DAC-A930-D78211A19972}" srcOrd="0" destOrd="0" presId="urn:microsoft.com/office/officeart/2005/8/layout/orgChart1"/>
    <dgm:cxn modelId="{504E6C2C-AC02-424B-AFDD-814E2D3A1547}" type="presOf" srcId="{3AA20254-EF6B-47CD-A788-363B7D644350}" destId="{71BCDD67-2DA1-439B-9E4C-B9EB487538D9}" srcOrd="1" destOrd="0" presId="urn:microsoft.com/office/officeart/2005/8/layout/orgChart1"/>
    <dgm:cxn modelId="{B38DBC2D-995B-490F-AFF2-069D4CE55355}" type="presOf" srcId="{E8E65A16-7A7C-4BB5-9AB5-161FFA35631E}" destId="{A856A5E0-113B-4325-9D14-501BD296F946}" srcOrd="1" destOrd="0" presId="urn:microsoft.com/office/officeart/2005/8/layout/orgChart1"/>
    <dgm:cxn modelId="{72D92E30-638A-4E75-BAB7-13B14C987737}" type="presOf" srcId="{1CF951A0-F1BD-4771-A081-5DECD54F296D}" destId="{50067B46-A8DA-4DF5-AFDF-89D6D6F4DC52}" srcOrd="0" destOrd="0" presId="urn:microsoft.com/office/officeart/2005/8/layout/orgChart1"/>
    <dgm:cxn modelId="{9E86B84C-1063-4AD2-BCF2-81604BCB415A}" srcId="{710DFDB4-BAC5-487F-9B53-2432E919F6AF}" destId="{3AA20254-EF6B-47CD-A788-363B7D644350}" srcOrd="1" destOrd="0" parTransId="{1CF951A0-F1BD-4771-A081-5DECD54F296D}" sibTransId="{B8E4FEFC-3F94-42BF-B31D-25FA3D67E5B7}"/>
    <dgm:cxn modelId="{09C00971-3861-4255-8606-BFDDFDEFCBAD}" type="presOf" srcId="{4EC772FB-759E-4DA8-BB92-C53B850F4569}" destId="{6F0BA9D6-B67F-4177-BCF9-B8DD2D9048E8}" srcOrd="0" destOrd="0" presId="urn:microsoft.com/office/officeart/2005/8/layout/orgChart1"/>
    <dgm:cxn modelId="{31CFBA52-C58E-43F4-A378-ED02F28E1F19}" srcId="{2B0A1D12-0DF5-401D-88D5-A614C0AE08E2}" destId="{74D5400F-DD3C-4114-B2AD-832F889F4771}" srcOrd="1" destOrd="0" parTransId="{D34629FD-517E-4F85-8635-F00A2D172F89}" sibTransId="{13A1BCEE-0176-4182-85DE-11B584C6D85E}"/>
    <dgm:cxn modelId="{2F4F7D54-52C6-4F46-93BD-2B9B89D1A5AA}" type="presOf" srcId="{D34629FD-517E-4F85-8635-F00A2D172F89}" destId="{560AB0AD-DBFA-4FEF-8543-5798EBF0591D}" srcOrd="0" destOrd="0" presId="urn:microsoft.com/office/officeart/2005/8/layout/orgChart1"/>
    <dgm:cxn modelId="{FB8D4658-CA94-439C-BF8A-7A10A52B8F5C}" srcId="{710DFDB4-BAC5-487F-9B53-2432E919F6AF}" destId="{E8E65A16-7A7C-4BB5-9AB5-161FFA35631E}" srcOrd="0" destOrd="0" parTransId="{4EC772FB-759E-4DA8-BB92-C53B850F4569}" sibTransId="{B575E974-2E8E-409A-BBC1-6695C286B14D}"/>
    <dgm:cxn modelId="{6BFACBB6-DD14-48B3-936A-D160C3AB33DF}" srcId="{2B0A1D12-0DF5-401D-88D5-A614C0AE08E2}" destId="{710DFDB4-BAC5-487F-9B53-2432E919F6AF}" srcOrd="0" destOrd="0" parTransId="{2B672AD3-1FF5-4C81-BB2F-220D7D27585A}" sibTransId="{BE35127B-C356-426E-BEFD-2B4B366D7D50}"/>
    <dgm:cxn modelId="{47DC9BB7-5119-4016-B4D9-E84A6BE247DD}" type="presOf" srcId="{2B672AD3-1FF5-4C81-BB2F-220D7D27585A}" destId="{E9F684AE-38DD-424B-B9FD-B3F1B9353404}" srcOrd="0" destOrd="0" presId="urn:microsoft.com/office/officeart/2005/8/layout/orgChart1"/>
    <dgm:cxn modelId="{FE1F11C1-D252-49BC-ABD3-CC2745DE9BB7}" type="presOf" srcId="{710DFDB4-BAC5-487F-9B53-2432E919F6AF}" destId="{8437C63F-0F3F-491E-A46A-218538B30DA9}" srcOrd="1" destOrd="0" presId="urn:microsoft.com/office/officeart/2005/8/layout/orgChart1"/>
    <dgm:cxn modelId="{284451F7-421D-49C2-847C-791677CC64D3}" type="presOf" srcId="{710DFDB4-BAC5-487F-9B53-2432E919F6AF}" destId="{DDB0BEC3-6297-424F-B3DB-3CA2867F325A}" srcOrd="0" destOrd="0" presId="urn:microsoft.com/office/officeart/2005/8/layout/orgChart1"/>
    <dgm:cxn modelId="{C553B4FB-C08B-46AD-95AE-D03B18D30925}" type="presOf" srcId="{2B0A1D12-0DF5-401D-88D5-A614C0AE08E2}" destId="{810B6C45-9AF0-4B81-B7A7-E00B4F6FC83C}" srcOrd="1" destOrd="0" presId="urn:microsoft.com/office/officeart/2005/8/layout/orgChart1"/>
    <dgm:cxn modelId="{F5C6B0EC-DCE8-4A1A-A787-05656373120B}" type="presParOf" srcId="{A85D805C-9125-409E-B884-B13E1750B909}" destId="{3B71C4B3-F386-44E5-85CD-1E088B165406}" srcOrd="0" destOrd="0" presId="urn:microsoft.com/office/officeart/2005/8/layout/orgChart1"/>
    <dgm:cxn modelId="{E3EB9711-A29C-4F97-A8BB-A39918D6B620}" type="presParOf" srcId="{3B71C4B3-F386-44E5-85CD-1E088B165406}" destId="{ACEFA65B-6503-4FBF-BC52-938556C9D2DA}" srcOrd="0" destOrd="0" presId="urn:microsoft.com/office/officeart/2005/8/layout/orgChart1"/>
    <dgm:cxn modelId="{420C2788-8AA4-48F1-BBFD-883060748AC3}" type="presParOf" srcId="{ACEFA65B-6503-4FBF-BC52-938556C9D2DA}" destId="{606BA29E-E873-40A6-9B69-C3D5A8CF03C3}" srcOrd="0" destOrd="0" presId="urn:microsoft.com/office/officeart/2005/8/layout/orgChart1"/>
    <dgm:cxn modelId="{8D8251D6-DD2E-4548-9B03-34BD285EC15E}" type="presParOf" srcId="{ACEFA65B-6503-4FBF-BC52-938556C9D2DA}" destId="{810B6C45-9AF0-4B81-B7A7-E00B4F6FC83C}" srcOrd="1" destOrd="0" presId="urn:microsoft.com/office/officeart/2005/8/layout/orgChart1"/>
    <dgm:cxn modelId="{EF0998F9-9448-410C-8765-621DC41C8698}" type="presParOf" srcId="{3B71C4B3-F386-44E5-85CD-1E088B165406}" destId="{3DC14CE9-F493-48BF-AB67-9531782BD851}" srcOrd="1" destOrd="0" presId="urn:microsoft.com/office/officeart/2005/8/layout/orgChart1"/>
    <dgm:cxn modelId="{676AABD7-300C-4EF5-AEBE-E461125F4A58}" type="presParOf" srcId="{3B71C4B3-F386-44E5-85CD-1E088B165406}" destId="{0E345289-6DE8-487F-8653-0146623B9F10}" srcOrd="2" destOrd="0" presId="urn:microsoft.com/office/officeart/2005/8/layout/orgChart1"/>
    <dgm:cxn modelId="{403A88D5-D540-4411-956B-E0CF1A47E611}" type="presParOf" srcId="{0E345289-6DE8-487F-8653-0146623B9F10}" destId="{E9F684AE-38DD-424B-B9FD-B3F1B9353404}" srcOrd="0" destOrd="0" presId="urn:microsoft.com/office/officeart/2005/8/layout/orgChart1"/>
    <dgm:cxn modelId="{F7352462-CB91-4C50-AE81-FAC38C297852}" type="presParOf" srcId="{0E345289-6DE8-487F-8653-0146623B9F10}" destId="{5B1F61EA-0018-40B5-B075-C52D187DA59E}" srcOrd="1" destOrd="0" presId="urn:microsoft.com/office/officeart/2005/8/layout/orgChart1"/>
    <dgm:cxn modelId="{CDF3E994-7035-4BB8-9073-EA32E444ADCF}" type="presParOf" srcId="{5B1F61EA-0018-40B5-B075-C52D187DA59E}" destId="{41C95481-2FEE-4043-9898-3E6A753DBB33}" srcOrd="0" destOrd="0" presId="urn:microsoft.com/office/officeart/2005/8/layout/orgChart1"/>
    <dgm:cxn modelId="{6C8D0B22-9714-445A-9DCD-C1722309E4F8}" type="presParOf" srcId="{41C95481-2FEE-4043-9898-3E6A753DBB33}" destId="{DDB0BEC3-6297-424F-B3DB-3CA2867F325A}" srcOrd="0" destOrd="0" presId="urn:microsoft.com/office/officeart/2005/8/layout/orgChart1"/>
    <dgm:cxn modelId="{D74BF3C5-272A-4BD8-9D01-6486F687D0A6}" type="presParOf" srcId="{41C95481-2FEE-4043-9898-3E6A753DBB33}" destId="{8437C63F-0F3F-491E-A46A-218538B30DA9}" srcOrd="1" destOrd="0" presId="urn:microsoft.com/office/officeart/2005/8/layout/orgChart1"/>
    <dgm:cxn modelId="{33AEAF6F-7574-4DB2-8121-F1D928833E74}" type="presParOf" srcId="{5B1F61EA-0018-40B5-B075-C52D187DA59E}" destId="{F8ED1799-F79F-4468-8DBD-B75BF8E40129}" srcOrd="1" destOrd="0" presId="urn:microsoft.com/office/officeart/2005/8/layout/orgChart1"/>
    <dgm:cxn modelId="{E1E2E563-2259-4FF4-84A3-E5CB595AAFC0}" type="presParOf" srcId="{5B1F61EA-0018-40B5-B075-C52D187DA59E}" destId="{ED64B96E-E16D-46F7-BDB9-92A3F87E8404}" srcOrd="2" destOrd="0" presId="urn:microsoft.com/office/officeart/2005/8/layout/orgChart1"/>
    <dgm:cxn modelId="{E81D4EFA-7D84-43C9-987E-D0BE4E154A4D}" type="presParOf" srcId="{ED64B96E-E16D-46F7-BDB9-92A3F87E8404}" destId="{6F0BA9D6-B67F-4177-BCF9-B8DD2D9048E8}" srcOrd="0" destOrd="0" presId="urn:microsoft.com/office/officeart/2005/8/layout/orgChart1"/>
    <dgm:cxn modelId="{B39A7D65-9496-421C-ABF8-43601E6DE9F6}" type="presParOf" srcId="{ED64B96E-E16D-46F7-BDB9-92A3F87E8404}" destId="{273D97DE-D3B4-47E1-87C3-0C51943F9D30}" srcOrd="1" destOrd="0" presId="urn:microsoft.com/office/officeart/2005/8/layout/orgChart1"/>
    <dgm:cxn modelId="{26CE8765-ABB1-4474-87F5-80B7E8E8B45C}" type="presParOf" srcId="{273D97DE-D3B4-47E1-87C3-0C51943F9D30}" destId="{495D76A1-FE6D-454C-A88D-506E4F2A24E9}" srcOrd="0" destOrd="0" presId="urn:microsoft.com/office/officeart/2005/8/layout/orgChart1"/>
    <dgm:cxn modelId="{1FE82CED-6C16-4BF3-9CC9-E86B2AFD55A3}" type="presParOf" srcId="{495D76A1-FE6D-454C-A88D-506E4F2A24E9}" destId="{729A4B7F-30B4-4D49-A9C2-3CA9F046BCF6}" srcOrd="0" destOrd="0" presId="urn:microsoft.com/office/officeart/2005/8/layout/orgChart1"/>
    <dgm:cxn modelId="{12D34195-CA0E-4D10-AB61-5811BA6008CD}" type="presParOf" srcId="{495D76A1-FE6D-454C-A88D-506E4F2A24E9}" destId="{A856A5E0-113B-4325-9D14-501BD296F946}" srcOrd="1" destOrd="0" presId="urn:microsoft.com/office/officeart/2005/8/layout/orgChart1"/>
    <dgm:cxn modelId="{85906CF7-F279-44B0-B71F-BB665C2C7266}" type="presParOf" srcId="{273D97DE-D3B4-47E1-87C3-0C51943F9D30}" destId="{012A237B-AF38-4966-868F-E4B84FE1E278}" srcOrd="1" destOrd="0" presId="urn:microsoft.com/office/officeart/2005/8/layout/orgChart1"/>
    <dgm:cxn modelId="{30DD900A-FB77-4A52-86F8-6B222D77AECC}" type="presParOf" srcId="{273D97DE-D3B4-47E1-87C3-0C51943F9D30}" destId="{1BC6653B-5B74-4314-9EF7-B9EC4FC74B4F}" srcOrd="2" destOrd="0" presId="urn:microsoft.com/office/officeart/2005/8/layout/orgChart1"/>
    <dgm:cxn modelId="{29AD7E71-D7FF-4EED-A66B-924BF820405E}" type="presParOf" srcId="{ED64B96E-E16D-46F7-BDB9-92A3F87E8404}" destId="{50067B46-A8DA-4DF5-AFDF-89D6D6F4DC52}" srcOrd="2" destOrd="0" presId="urn:microsoft.com/office/officeart/2005/8/layout/orgChart1"/>
    <dgm:cxn modelId="{7E01C695-F20F-4748-BE2E-ECA0DE2E36CC}" type="presParOf" srcId="{ED64B96E-E16D-46F7-BDB9-92A3F87E8404}" destId="{90FB822B-836C-4D38-B98C-4A0F50B724E9}" srcOrd="3" destOrd="0" presId="urn:microsoft.com/office/officeart/2005/8/layout/orgChart1"/>
    <dgm:cxn modelId="{E8A5E0EB-1AA6-4E00-ABA3-6039CE6E4BC1}" type="presParOf" srcId="{90FB822B-836C-4D38-B98C-4A0F50B724E9}" destId="{04C41CBB-6DB9-4AC3-9FAA-5E339AEED379}" srcOrd="0" destOrd="0" presId="urn:microsoft.com/office/officeart/2005/8/layout/orgChart1"/>
    <dgm:cxn modelId="{4E9F4A2A-3A6F-47CA-BF87-51F839A86245}" type="presParOf" srcId="{04C41CBB-6DB9-4AC3-9FAA-5E339AEED379}" destId="{41C88635-ABD5-4DAC-A930-D78211A19972}" srcOrd="0" destOrd="0" presId="urn:microsoft.com/office/officeart/2005/8/layout/orgChart1"/>
    <dgm:cxn modelId="{3C8797AB-7AD5-4EC3-9D58-2D4D04FC8D51}" type="presParOf" srcId="{04C41CBB-6DB9-4AC3-9FAA-5E339AEED379}" destId="{71BCDD67-2DA1-439B-9E4C-B9EB487538D9}" srcOrd="1" destOrd="0" presId="urn:microsoft.com/office/officeart/2005/8/layout/orgChart1"/>
    <dgm:cxn modelId="{F8322ACD-A2F8-43D9-A7A8-E763F8DF7CC7}" type="presParOf" srcId="{90FB822B-836C-4D38-B98C-4A0F50B724E9}" destId="{8F6AE170-DEBC-4BDC-B3CD-036913A1BAD9}" srcOrd="1" destOrd="0" presId="urn:microsoft.com/office/officeart/2005/8/layout/orgChart1"/>
    <dgm:cxn modelId="{A2B352E3-BB57-4CB1-B3E1-B8F5FCD64F9B}" type="presParOf" srcId="{90FB822B-836C-4D38-B98C-4A0F50B724E9}" destId="{388FB2B7-57B6-42D8-A03C-7FD3423C618D}" srcOrd="2" destOrd="0" presId="urn:microsoft.com/office/officeart/2005/8/layout/orgChart1"/>
    <dgm:cxn modelId="{E5EDFC2D-BE93-4141-A495-14D376385EED}" type="presParOf" srcId="{0E345289-6DE8-487F-8653-0146623B9F10}" destId="{560AB0AD-DBFA-4FEF-8543-5798EBF0591D}" srcOrd="2" destOrd="0" presId="urn:microsoft.com/office/officeart/2005/8/layout/orgChart1"/>
    <dgm:cxn modelId="{E9675975-5EC7-49FC-ABFB-A8B06DF5AAFA}" type="presParOf" srcId="{0E345289-6DE8-487F-8653-0146623B9F10}" destId="{06DBBBCC-2C5B-48EB-8904-5E43C82E7151}" srcOrd="3" destOrd="0" presId="urn:microsoft.com/office/officeart/2005/8/layout/orgChart1"/>
    <dgm:cxn modelId="{0EC10520-C01A-42A9-B2C8-15B77793E97B}" type="presParOf" srcId="{06DBBBCC-2C5B-48EB-8904-5E43C82E7151}" destId="{1C21F560-A242-4844-A46D-C70929229E94}" srcOrd="0" destOrd="0" presId="urn:microsoft.com/office/officeart/2005/8/layout/orgChart1"/>
    <dgm:cxn modelId="{7E37A3E6-1D82-4493-9D9B-8AE504859D7A}" type="presParOf" srcId="{1C21F560-A242-4844-A46D-C70929229E94}" destId="{27565E7D-EAB8-49F4-9E89-7F14C3BB7DD4}" srcOrd="0" destOrd="0" presId="urn:microsoft.com/office/officeart/2005/8/layout/orgChart1"/>
    <dgm:cxn modelId="{A39847E4-9862-4EDF-A677-3DDA8FBC7680}" type="presParOf" srcId="{1C21F560-A242-4844-A46D-C70929229E94}" destId="{42F18D3F-3FC5-4DB1-A9F4-EA6132C9F5B8}" srcOrd="1" destOrd="0" presId="urn:microsoft.com/office/officeart/2005/8/layout/orgChart1"/>
    <dgm:cxn modelId="{E3D14A09-8B4E-43AD-BE50-82FC7BDCF92B}" type="presParOf" srcId="{06DBBBCC-2C5B-48EB-8904-5E43C82E7151}" destId="{4FA6336A-10F1-4E40-B2FE-6B706B4EFB45}" srcOrd="1" destOrd="0" presId="urn:microsoft.com/office/officeart/2005/8/layout/orgChart1"/>
    <dgm:cxn modelId="{F7675E69-E96C-4D74-95D6-BF3CE084FEB0}" type="presParOf" srcId="{06DBBBCC-2C5B-48EB-8904-5E43C82E7151}" destId="{DBB1FEC9-94CE-40E9-84ED-FB9BF628C54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0AB0AD-DBFA-4FEF-8543-5798EBF0591D}">
      <dsp:nvSpPr>
        <dsp:cNvPr id="0" name=""/>
        <dsp:cNvSpPr/>
      </dsp:nvSpPr>
      <dsp:spPr>
        <a:xfrm>
          <a:off x="3182325" y="458786"/>
          <a:ext cx="690339" cy="4206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0647"/>
              </a:lnTo>
              <a:lnTo>
                <a:pt x="690339" y="42064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067B46-A8DA-4DF5-AFDF-89D6D6F4DC52}">
      <dsp:nvSpPr>
        <dsp:cNvPr id="0" name=""/>
        <dsp:cNvSpPr/>
      </dsp:nvSpPr>
      <dsp:spPr>
        <a:xfrm>
          <a:off x="2026705" y="1110050"/>
          <a:ext cx="91440" cy="42194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21945"/>
              </a:lnTo>
              <a:lnTo>
                <a:pt x="111800" y="42194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0BA9D6-B67F-4177-BCF9-B8DD2D9048E8}">
      <dsp:nvSpPr>
        <dsp:cNvPr id="0" name=""/>
        <dsp:cNvSpPr/>
      </dsp:nvSpPr>
      <dsp:spPr>
        <a:xfrm>
          <a:off x="1976112" y="1110050"/>
          <a:ext cx="96313" cy="421945"/>
        </a:xfrm>
        <a:custGeom>
          <a:avLst/>
          <a:gdLst/>
          <a:ahLst/>
          <a:cxnLst/>
          <a:rect l="0" t="0" r="0" b="0"/>
          <a:pathLst>
            <a:path>
              <a:moveTo>
                <a:pt x="96313" y="0"/>
              </a:moveTo>
              <a:lnTo>
                <a:pt x="96313" y="421945"/>
              </a:lnTo>
              <a:lnTo>
                <a:pt x="0" y="42194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F684AE-38DD-424B-B9FD-B3F1B9353404}">
      <dsp:nvSpPr>
        <dsp:cNvPr id="0" name=""/>
        <dsp:cNvSpPr/>
      </dsp:nvSpPr>
      <dsp:spPr>
        <a:xfrm>
          <a:off x="2531061" y="458786"/>
          <a:ext cx="651263" cy="421945"/>
        </a:xfrm>
        <a:custGeom>
          <a:avLst/>
          <a:gdLst/>
          <a:ahLst/>
          <a:cxnLst/>
          <a:rect l="0" t="0" r="0" b="0"/>
          <a:pathLst>
            <a:path>
              <a:moveTo>
                <a:pt x="651263" y="0"/>
              </a:moveTo>
              <a:lnTo>
                <a:pt x="651263" y="421945"/>
              </a:lnTo>
              <a:lnTo>
                <a:pt x="0" y="42194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6BA29E-E873-40A6-9B69-C3D5A8CF03C3}">
      <dsp:nvSpPr>
        <dsp:cNvPr id="0" name=""/>
        <dsp:cNvSpPr/>
      </dsp:nvSpPr>
      <dsp:spPr>
        <a:xfrm>
          <a:off x="2723689" y="150"/>
          <a:ext cx="917272" cy="458636"/>
        </a:xfrm>
        <a:prstGeom prst="rect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Segoe UI" panose="020B0502040204020203" pitchFamily="34" charset="0"/>
              <a:cs typeface="Segoe UI" panose="020B0502040204020203" pitchFamily="34" charset="0"/>
            </a:rPr>
            <a:t>+</a:t>
          </a:r>
        </a:p>
      </dsp:txBody>
      <dsp:txXfrm>
        <a:off x="2723689" y="150"/>
        <a:ext cx="917272" cy="458636"/>
      </dsp:txXfrm>
    </dsp:sp>
    <dsp:sp modelId="{DDB0BEC3-6297-424F-B3DB-3CA2867F325A}">
      <dsp:nvSpPr>
        <dsp:cNvPr id="0" name=""/>
        <dsp:cNvSpPr/>
      </dsp:nvSpPr>
      <dsp:spPr>
        <a:xfrm>
          <a:off x="1613789" y="651413"/>
          <a:ext cx="917272" cy="458636"/>
        </a:xfrm>
        <a:prstGeom prst="rect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Segoe UI" panose="020B0502040204020203" pitchFamily="34" charset="0"/>
              <a:cs typeface="Segoe UI" panose="020B0502040204020203" pitchFamily="34" charset="0"/>
            </a:rPr>
            <a:t>*</a:t>
          </a:r>
        </a:p>
      </dsp:txBody>
      <dsp:txXfrm>
        <a:off x="1613789" y="651413"/>
        <a:ext cx="917272" cy="458636"/>
      </dsp:txXfrm>
    </dsp:sp>
    <dsp:sp modelId="{729A4B7F-30B4-4D49-A9C2-3CA9F046BCF6}">
      <dsp:nvSpPr>
        <dsp:cNvPr id="0" name=""/>
        <dsp:cNvSpPr/>
      </dsp:nvSpPr>
      <dsp:spPr>
        <a:xfrm>
          <a:off x="1058840" y="1302677"/>
          <a:ext cx="917272" cy="458636"/>
        </a:xfrm>
        <a:prstGeom prst="rect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Segoe UI" panose="020B0502040204020203" pitchFamily="34" charset="0"/>
              <a:cs typeface="Segoe UI" panose="020B0502040204020203" pitchFamily="34" charset="0"/>
            </a:rPr>
            <a:t>2</a:t>
          </a:r>
        </a:p>
      </dsp:txBody>
      <dsp:txXfrm>
        <a:off x="1058840" y="1302677"/>
        <a:ext cx="917272" cy="458636"/>
      </dsp:txXfrm>
    </dsp:sp>
    <dsp:sp modelId="{41C88635-ABD5-4DAC-A930-D78211A19972}">
      <dsp:nvSpPr>
        <dsp:cNvPr id="0" name=""/>
        <dsp:cNvSpPr/>
      </dsp:nvSpPr>
      <dsp:spPr>
        <a:xfrm>
          <a:off x="2138506" y="1302677"/>
          <a:ext cx="917272" cy="458636"/>
        </a:xfrm>
        <a:prstGeom prst="rect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Segoe UI" panose="020B0502040204020203" pitchFamily="34" charset="0"/>
              <a:cs typeface="Segoe UI" panose="020B0502040204020203" pitchFamily="34" charset="0"/>
            </a:rPr>
            <a:t>x</a:t>
          </a:r>
        </a:p>
      </dsp:txBody>
      <dsp:txXfrm>
        <a:off x="2138506" y="1302677"/>
        <a:ext cx="917272" cy="458636"/>
      </dsp:txXfrm>
    </dsp:sp>
    <dsp:sp modelId="{27565E7D-EAB8-49F4-9E89-7F14C3BB7DD4}">
      <dsp:nvSpPr>
        <dsp:cNvPr id="0" name=""/>
        <dsp:cNvSpPr/>
      </dsp:nvSpPr>
      <dsp:spPr>
        <a:xfrm>
          <a:off x="3872664" y="650116"/>
          <a:ext cx="917272" cy="458636"/>
        </a:xfrm>
        <a:prstGeom prst="rect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Segoe UI" panose="020B0502040204020203" pitchFamily="34" charset="0"/>
              <a:cs typeface="Segoe UI" panose="020B0502040204020203" pitchFamily="34" charset="0"/>
            </a:rPr>
            <a:t>5</a:t>
          </a:r>
        </a:p>
      </dsp:txBody>
      <dsp:txXfrm>
        <a:off x="3872664" y="650116"/>
        <a:ext cx="917272" cy="4586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C73C21-53FD-4857-B966-29EEC57FD3CA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66879D-588B-4FB3-89C1-5E53861D6B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881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>
                <a:latin typeface="Segoe UI" panose="020B0502040204020203" pitchFamily="34" charset="0"/>
                <a:cs typeface="Segoe UI" panose="020B0502040204020203" pitchFamily="34" charset="0"/>
              </a:rPr>
              <a:t>Why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did I build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CalcSuite Pro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baseline assignment asked for a simple calculator script, but the software engineering industry demands scalable systems.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 approached this project not as a basic GUI task, but as a full-scale architectural challenge.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>
                <a:latin typeface="Segoe UI" panose="020B0502040204020203" pitchFamily="34" charset="0"/>
                <a:cs typeface="Segoe UI" panose="020B0502040204020203" pitchFamily="34" charset="0"/>
              </a:rPr>
              <a:t>How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did I achieve this?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By engineering a '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Digi-</a:t>
            </a: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ToolKit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'—a multi-tool workstation built with a strict focus on secure parsing, resilient data validation, and dynamic state management, proving the application can scale far beyond standard arithmetic.</a:t>
            </a: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66879D-588B-4FB3-89C1-5E53861D6BA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227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945E9-1F7C-F16C-31EA-ED8C201D5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A699C3-AD53-D32C-8D49-C44463C97D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92BC85-219D-D2BC-F5F6-EDAC0D7DF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>
                <a:latin typeface="Segoe UI" panose="020B0502040204020203" pitchFamily="34" charset="0"/>
                <a:cs typeface="Segoe UI" panose="020B0502040204020203" pitchFamily="34" charset="0"/>
              </a:rPr>
              <a:t>Why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deliberately expand the scope from a single calculator into a 5-tab workstation?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To demonstrate commercial-grade system architecture.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 single tab proves you can write a math loop; five tabs prove you can manage complex application boundaries. </a:t>
            </a:r>
          </a:p>
          <a:p>
            <a:endParaRPr lang="en-US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i="1" dirty="0">
                <a:latin typeface="Segoe UI" panose="020B0502040204020203" pitchFamily="34" charset="0"/>
                <a:cs typeface="Segoe UI" panose="020B0502040204020203" pitchFamily="34" charset="0"/>
              </a:rPr>
              <a:t>How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is this structured?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 compartmentalized specific computer science challenges: secured parsing in the Scientific Engine, Deterministic algorithms in the Solvers, heuristic routing in the Algebra tab, and dynamic data handling in the BMI and Converter tabs.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This proves the application operates as a complete, resilient desktop environment.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FF85B-F448-98BA-6847-44624325AB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66879D-588B-4FB3-89C1-5E53861D6BA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027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>
                <a:latin typeface="Segoe UI" panose="020B0502040204020203" pitchFamily="34" charset="0"/>
                <a:cs typeface="Segoe UI" panose="020B0502040204020203" pitchFamily="34" charset="0"/>
              </a:rPr>
              <a:t>Why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did I bypass standard Tkinter?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Because standard Tkinter lacks the hardware-accelerated rendering necessary for modern UI persistence. </a:t>
            </a:r>
          </a:p>
          <a:p>
            <a:endParaRPr lang="en-US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i="1" dirty="0">
                <a:latin typeface="Segoe UI" panose="020B0502040204020203" pitchFamily="34" charset="0"/>
                <a:cs typeface="Segoe UI" panose="020B0502040204020203" pitchFamily="34" charset="0"/>
              </a:rPr>
              <a:t>How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does the application manage five independent tools without suffering memory leaks or state collision?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By wrapping the entire application state within a single main Object-Oriented Class. 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This allows global resources—like the History Manager—to capture and tag data across all five tabs simultaneously without relying on fragile inter-class callback loops.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Furthermore, </a:t>
            </a:r>
            <a:r>
              <a:rPr lang="en-US" i="1" dirty="0">
                <a:latin typeface="Segoe UI" panose="020B0502040204020203" pitchFamily="34" charset="0"/>
                <a:cs typeface="Segoe UI" panose="020B0502040204020203" pitchFamily="34" charset="0"/>
              </a:rPr>
              <a:t>why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implement a specific 450-millisecond auto-redirect delay? </a:t>
            </a:r>
            <a:endParaRPr lang="en-US" dirty="0"/>
          </a:p>
          <a:p>
            <a:r>
              <a:rPr lang="en-US" dirty="0"/>
              <a:t>To highlight the UX Engineering: I programmed it specifically to support the engine's 'Smart Routing.’ </a:t>
            </a:r>
          </a:p>
          <a:p>
            <a:endParaRPr lang="en-US" dirty="0"/>
          </a:p>
          <a:p>
            <a:r>
              <a:rPr lang="en-US" dirty="0"/>
              <a:t>If a user is in the Scientific Tab and enters an algebraic equation with variables (especially for simplification), the system doesn't just throw an error (when the user press “=“ button or ENTER). </a:t>
            </a:r>
          </a:p>
          <a:p>
            <a:r>
              <a:rPr lang="en-US" dirty="0"/>
              <a:t>It automatically intercepts the variables and physically redirects the user's UI to the Algebra tab. </a:t>
            </a:r>
          </a:p>
          <a:p>
            <a:endParaRPr lang="en-US" dirty="0"/>
          </a:p>
          <a:p>
            <a:r>
              <a:rPr lang="en-US" dirty="0"/>
              <a:t>The 450ms delay ensures this cross-tab transition happens smoothly without jarring screen flashes, creating a seamless bridge between the different mathematical engines.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Finally, I programmed strict modifier-key guards (Shift/Ctrl/Alt) to protect the execution threads from phantom keystrokes.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66879D-588B-4FB3-89C1-5E53861D6BA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2827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i="0" dirty="0">
                <a:latin typeface="Segoe UI" panose="020B0502040204020203" pitchFamily="34" charset="0"/>
                <a:cs typeface="Segoe UI" panose="020B0502040204020203" pitchFamily="34" charset="0"/>
              </a:rPr>
              <a:t>Why is Python's built-in </a:t>
            </a:r>
            <a:r>
              <a:rPr lang="en-US" sz="1200" b="1" i="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eval()</a:t>
            </a:r>
            <a:r>
              <a:rPr lang="en-US" sz="1200" i="0" dirty="0">
                <a:latin typeface="Segoe UI" panose="020B0502040204020203" pitchFamily="34" charset="0"/>
                <a:cs typeface="Segoe UI" panose="020B0502040204020203" pitchFamily="34" charset="0"/>
              </a:rPr>
              <a:t> function strictly prohibited in this application? </a:t>
            </a:r>
          </a:p>
          <a:p>
            <a:r>
              <a:rPr lang="en-US" sz="1200" i="0" dirty="0">
                <a:latin typeface="Segoe UI" panose="020B0502040204020203" pitchFamily="34" charset="0"/>
                <a:cs typeface="Segoe UI" panose="020B0502040204020203" pitchFamily="34" charset="0"/>
              </a:rPr>
              <a:t>Because executing arbitrary strings as live code creates a catastrophic code-injection vulnerability. </a:t>
            </a:r>
          </a:p>
          <a:p>
            <a:endParaRPr lang="en-US" sz="1200" i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200" i="0" dirty="0">
                <a:latin typeface="Segoe UI" panose="020B0502040204020203" pitchFamily="34" charset="0"/>
                <a:cs typeface="Segoe UI" panose="020B0502040204020203" pitchFamily="34" charset="0"/>
              </a:rPr>
              <a:t>How did I secure the core engine? </a:t>
            </a:r>
          </a:p>
          <a:p>
            <a:r>
              <a:rPr lang="en-US" sz="1200" i="0" dirty="0">
                <a:latin typeface="Segoe UI" panose="020B0502040204020203" pitchFamily="34" charset="0"/>
                <a:cs typeface="Segoe UI" panose="020B0502040204020203" pitchFamily="34" charset="0"/>
              </a:rPr>
              <a:t>I utilized Python's Abstract Syntax Tree (</a:t>
            </a:r>
            <a:r>
              <a:rPr lang="en-US" sz="1200" b="1" i="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ast</a:t>
            </a:r>
            <a:r>
              <a:rPr lang="en-US" sz="1200" i="0" dirty="0">
                <a:latin typeface="Segoe UI" panose="020B0502040204020203" pitchFamily="34" charset="0"/>
                <a:cs typeface="Segoe UI" panose="020B0502040204020203" pitchFamily="34" charset="0"/>
              </a:rPr>
              <a:t>) module. </a:t>
            </a:r>
          </a:p>
          <a:p>
            <a:r>
              <a:rPr lang="en-US" sz="1200" i="0" dirty="0">
                <a:latin typeface="Segoe UI" panose="020B0502040204020203" pitchFamily="34" charset="0"/>
                <a:cs typeface="Segoe UI" panose="020B0502040204020203" pitchFamily="34" charset="0"/>
              </a:rPr>
              <a:t>The engine safely parses mathematical strings into structural nodes, explicitly whitelisting only safe operations. </a:t>
            </a:r>
          </a:p>
          <a:p>
            <a:endParaRPr lang="en-US" sz="1200" i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200" i="0" dirty="0">
                <a:latin typeface="Segoe UI" panose="020B0502040204020203" pitchFamily="34" charset="0"/>
                <a:cs typeface="Segoe UI" panose="020B0502040204020203" pitchFamily="34" charset="0"/>
              </a:rPr>
              <a:t>Furthermore, why build a custom AST parser rather than importing a heavy Computer Algebra System like SymPy? </a:t>
            </a:r>
          </a:p>
          <a:p>
            <a:r>
              <a:rPr lang="en-US" sz="1200" i="0" dirty="0">
                <a:latin typeface="Segoe UI" panose="020B0502040204020203" pitchFamily="34" charset="0"/>
                <a:cs typeface="Segoe UI" panose="020B0502040204020203" pitchFamily="34" charset="0"/>
              </a:rPr>
              <a:t>To prove foundational competency in tokenization. To guarantee absolute computational predictability, the engine intentionally enforces explicit operators, protecting the parser from the ambiguity of standard calculator logic.</a:t>
            </a:r>
          </a:p>
          <a:p>
            <a:endParaRPr lang="en-US" sz="1200" i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1200" i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 i="0" dirty="0">
                <a:latin typeface="Segoe UI" panose="020B0502040204020203" pitchFamily="34" charset="0"/>
                <a:cs typeface="Segoe UI" panose="020B0502040204020203" pitchFamily="34" charset="0"/>
              </a:rPr>
              <a:t>DEFENSE NOTE: </a:t>
            </a: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While the backend AST parser handles implicit multiplication via keyboard input perfectly, the UI buttons are deliberately programmed to enforce explicit operators (e.g., requiring </a:t>
            </a:r>
            <a:r>
              <a:rPr lang="en-US" sz="1200" i="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2*sin(30)</a:t>
            </a: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). </a:t>
            </a: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This is a strict design choice to prevent any string-concatenation ambiguity and guarantee zero-trust security during UI evaluation.</a:t>
            </a:r>
            <a:endParaRPr lang="en-IN" sz="1200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66879D-588B-4FB3-89C1-5E53861D6BA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1290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16C7C-CEF1-D88B-0F72-66C3C9CDA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D22148-BE45-B280-72F8-CB79508297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E88558-A922-5448-9045-4686F0C417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To understand </a:t>
            </a:r>
            <a:r>
              <a:rPr lang="en-US" i="1" dirty="0">
                <a:latin typeface="Segoe UI" panose="020B0502040204020203" pitchFamily="34" charset="0"/>
                <a:cs typeface="Segoe UI" panose="020B0502040204020203" pitchFamily="34" charset="0"/>
              </a:rPr>
              <a:t>why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I selected these specific advanced features, you have to look at the target user.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 wanted to build a true computer science and engineering toolkit, which requires moving beyond basic arithmetic to support discrete mathematics, like Combinatorics, and non-linear math like Trigonometric and Logarithmic.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i="1" dirty="0">
                <a:latin typeface="Segoe UI" panose="020B0502040204020203" pitchFamily="34" charset="0"/>
                <a:cs typeface="Segoe UI" panose="020B0502040204020203" pitchFamily="34" charset="0"/>
              </a:rPr>
              <a:t>How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does the engine handle this safely?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Instead of writing fragile, separate parsers for every new function, I hardcoded constants like Pi and Euler's number directly into the AST parsing sequence so they evaluate seamlessly alongside standard integers. 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For the base conversions, I deliberately engineered a decimal-centric translation system.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Rather than building a sprawling multi-radix matrix, the engine specifically translates Decimal values into Binary or Hexadecimal, and converts Binary strings back to Decimal. 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This architectural choice keeps the computational overhead incredibly light while fulfilling the exact bitwise translation needs of a programmer.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ADFB8-6C98-3A87-06EC-F712A7A1ED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66879D-588B-4FB3-89C1-5E53861D6BA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440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6445D-454D-EECB-09BD-56AECC388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B8C6B8-DB5C-F13F-EE0E-A1C4A8570D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8FDA36-A55F-D63F-EA13-AD0747D20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fundamental challenge with algebraic input is that it is entirely unstructured. </a:t>
            </a:r>
          </a:p>
          <a:p>
            <a:endParaRPr lang="en-US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i="1" dirty="0">
                <a:latin typeface="Segoe UI" panose="020B0502040204020203" pitchFamily="34" charset="0"/>
                <a:cs typeface="Segoe UI" panose="020B0502040204020203" pitchFamily="34" charset="0"/>
              </a:rPr>
              <a:t>Why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did I build a 7-State Smart Dispatcher instead of a standard parser?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Because the engine needs to dynamically deduce human intent from a raw string.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By scanning for structural triggers—like a comma or an equals sign—the dispatcher instantly knows whether it's looking at a linear equation or a 2x2 system.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i="1" dirty="0">
                <a:latin typeface="Segoe UI" panose="020B0502040204020203" pitchFamily="34" charset="0"/>
                <a:cs typeface="Segoe UI" panose="020B0502040204020203" pitchFamily="34" charset="0"/>
              </a:rPr>
              <a:t>How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does it process the math without relying on a massive external Computer Algebra System?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engine tokenizes the string and maps the variables using Python's </a:t>
            </a:r>
            <a:r>
              <a:rPr lang="en-US" sz="12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defaultdict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This allows it to mathematically stack like-terms dynamically without throwing dictionary KeyErrors. 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Finally, to ensure absolute thread stability, I had to protect the engine from impossible inputs. </a:t>
            </a:r>
            <a:r>
              <a:rPr lang="en-US" i="1" dirty="0">
                <a:latin typeface="Segoe UI" panose="020B0502040204020203" pitchFamily="34" charset="0"/>
                <a:cs typeface="Segoe UI" panose="020B0502040204020203" pitchFamily="34" charset="0"/>
              </a:rPr>
              <a:t>How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?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 programmed a Polynomial Guard that proactively scans for cross-variables and polynomial degrees exceeding 2.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It intercepts unsupported equations before they ever reach the execution phase, safely aborting the process and returning a graceful UI hint.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7797E-66A0-E492-B1B3-A933FE978B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66879D-588B-4FB3-89C1-5E53861D6BA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3332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9D7DB-12B4-6D08-4811-47AC4BA7E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3D0D9D-F1C8-DD29-DCA3-409C8EA84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579C94-D89B-AA12-94FB-DBF63E0D0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Previous Slide detailed the theoretical architecture, but this slide demonstrates the engine in live execution.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First, looking at the simplification output, you can see how the engine directly fulfills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Additional Expansion 2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endParaRPr lang="en-US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i="1" dirty="0">
                <a:latin typeface="Segoe UI" panose="020B0502040204020203" pitchFamily="34" charset="0"/>
                <a:cs typeface="Segoe UI" panose="020B0502040204020203" pitchFamily="34" charset="0"/>
              </a:rPr>
              <a:t>Why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does it handle this so cleanly?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Because the dispatcher isolates expressions without an equals sign and uses the dictionary mapping to mathematically stack like-terms.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i="1" dirty="0">
                <a:latin typeface="Segoe UI" panose="020B0502040204020203" pitchFamily="34" charset="0"/>
                <a:cs typeface="Segoe UI" panose="020B0502040204020203" pitchFamily="34" charset="0"/>
              </a:rPr>
              <a:t>How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does the UI handle more complex logic, like bracket products?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 specifically designed the result output as a multi-line, read-only textbox rather than a standard single-line display.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When the dispatcher intercepts a bracket, it dynamically renders the intermediate polynomial expansion for step-by-step transparency.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Finally, the guardrail image proves the absolute resilience of the application state. Notice </a:t>
            </a:r>
            <a:r>
              <a:rPr lang="en-US" i="1" dirty="0">
                <a:latin typeface="Segoe UI" panose="020B0502040204020203" pitchFamily="34" charset="0"/>
                <a:cs typeface="Segoe UI" panose="020B0502040204020203" pitchFamily="34" charset="0"/>
              </a:rPr>
              <a:t>how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the engine reacts to an unsupported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Degree-4 polynomial?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Instead of throwing a fatal terminal error, it gracefully intercepts the out-of-scope degree and renders an instructional UI prompt.</a:t>
            </a:r>
          </a:p>
          <a:p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0" dirty="0">
                <a:latin typeface="Segoe UI" panose="020B0502040204020203" pitchFamily="34" charset="0"/>
                <a:cs typeface="Segoe UI" panose="020B0502040204020203" pitchFamily="34" charset="0"/>
              </a:rPr>
              <a:t>To close the loop on our 7-state architecture, standard arithmetic and single-variable equations are handled natively here, while complex 2x2 and quadratic systems are routed to our dedicated Solvers engine—which brings us to our next tab.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065C8-97D8-B461-8574-12FC88CC02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66879D-588B-4FB3-89C1-5E53861D6BA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0850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B10D7-AD79-2EBB-A826-C56C6E91B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F619F6-0C65-F66F-B0D6-7433AA3E0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9CFAA5-10B7-10B3-C1D4-6F3FB3DB8F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While Algebra Tab was built for freeform equation processing, Tab 2 represents our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Structured Solvers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.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r>
              <a:rPr lang="en-US" sz="1200" i="1" kern="12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Why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build a separate Solvers tab if the Algebra tab can already solve quadratics?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The answer is User Experience and intent. The Algebra tab is for 'blind' entry—a user pastes or write an equation, and the engine has to parse and classify it.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However, if a user already knows they are holding a 2x2 linear system or a quadratic equation, forcing them to type out all the 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x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and 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variables is inefficient.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Solvers Tab provides a clean, coefficient-only template.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Beyond UX, this tab houses our highest-precision algorithms.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For linear systems, it utilizes Cramer’s Rule for matrix evaluation.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For quadratics, I specifically integrated Python's cmath library.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This allows the UI to successfully process negative discriminants and return accurate complex roots in the imaginary plane, proving the engine is equipped for advanced scientific workloads.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24925-12B9-C360-534C-082C2013B3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66879D-588B-4FB3-89C1-5E53861D6BA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715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5CA6F-1840-39FA-37E0-8ACCA5328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F84F38-620B-A970-4D33-A7A8791F98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40AD3B-6A25-F6BE-69B5-CAE4B6899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After proving the engine's capability with abstract systems in Tabs 2 and 3, I engineered Tab 4—Dynamic BMI Analytics—to demonstrate applied scalar mathematics. </a:t>
            </a:r>
          </a:p>
          <a:p>
            <a:endParaRPr lang="en-US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i="1" dirty="0">
                <a:latin typeface="Segoe UI" panose="020B0502040204020203" pitchFamily="34" charset="0"/>
                <a:cs typeface="Segoe UI" panose="020B0502040204020203" pitchFamily="34" charset="0"/>
              </a:rPr>
              <a:t>Why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 math workstation needs a health tool?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answer is UI state manipulation.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While the Algebra engine outputs raw text, the BMI engine is designed to evaluate continuous data against strict medical thresholds.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When the user inputs their metrics, the engine securely casts the strings to floats, runs the scalar formula, and instantly triggers a dynamic UI state change. </a:t>
            </a:r>
          </a:p>
          <a:p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0" dirty="0">
                <a:latin typeface="Segoe UI" panose="020B0502040204020203" pitchFamily="34" charset="0"/>
                <a:cs typeface="Segoe UI" panose="020B0502040204020203" pitchFamily="34" charset="0"/>
              </a:rPr>
              <a:t>While I am demonstrating the standard metric inputs here, I engineered the fields to be polymorphic—meaning it contains an under-the-hood routing system for Imperial data as well. </a:t>
            </a:r>
          </a:p>
          <a:p>
            <a:r>
              <a:rPr lang="en-US" b="0" dirty="0">
                <a:latin typeface="Segoe UI" panose="020B0502040204020203" pitchFamily="34" charset="0"/>
                <a:cs typeface="Segoe UI" panose="020B0502040204020203" pitchFamily="34" charset="0"/>
              </a:rPr>
              <a:t>I also integrated optional demographic weighting (Age/Gender) that dynamically alters the final medical classification string. 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This proves the architecture isn't just a static calculator, but a highly responsive analytics dashboard capable of translating raw numbers into visual, state-based feedback.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6F965-36BD-CDF7-749E-1E2FA6DDEA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66879D-588B-4FB3-89C1-5E53861D6BA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3172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7E326-7FD6-79CC-39BA-CE1118CA9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95DA28-3B4D-FCF8-D985-BBF8BD2E8C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CF1CB9-A167-9850-00FD-101C729BC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final core feature is Tab 5, the Scientific Converter. 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During the design phase, a major architectural decision was: </a:t>
            </a:r>
            <a:r>
              <a:rPr lang="en-US" i="1" dirty="0">
                <a:latin typeface="Segoe UI" panose="020B0502040204020203" pitchFamily="34" charset="0"/>
                <a:cs typeface="Segoe UI" panose="020B0502040204020203" pitchFamily="34" charset="0"/>
              </a:rPr>
              <a:t>which units do we include?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 deliberately restricted the scope to five fundamental physical quantities: Length, Area, Weight, Speed, and Temperature.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This prevents the application from becoming a bloated, consumer-level app and keeps it focused as a professional engineering workstation.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real technical defense here is how the engine handles the data routing?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first four categories—Length, Area, Weight, and Speed—are mathematically simple.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They are zero-intercept transformations; you just multiply by a constant ratio.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However, Temperature requires an entirely different mathematical paradigm.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It is a transformation requiring specific additive and subtractive offsets, because 0 Celsius does not equal 0 Fahrenheit. 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 engineered the backend router to instantly detect the active category and dynamically switch its evaluation logic, proving the UI can seamlessly manage structurally different mathematical operations under a unified interface.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E6D14-5BAE-3FC6-BB5B-FAC5F88F7D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66879D-588B-4FB3-89C1-5E53861D6BA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0123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A9618-FFFF-912D-97B8-25F547A01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8DB223-42B4-66DC-0516-2F85282EE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A80053-E68E-2304-1955-5CF89ACAB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To keep the user's workflow centralized, I engineered a unified </a:t>
            </a:r>
            <a:r>
              <a:rPr lang="en-US" sz="12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HistoryManager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Because users jump rapidly between tools, the system automatically injects contextual tags like '[BMI]' or '[Scientific]' into the log to keep the data readable.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 also implemented event-driven logging to prevent data spam—for instance, the live-updating Converter only commits to history on an explicit 'Enter' command, and even external sequences like the FIBS popup are safely routed back to this core log.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real architectural defense here, however, is how the system handles memory and data sanitization.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 engineered a dual-layer protocol: one for the user, and one for the machine.</a:t>
            </a:r>
          </a:p>
          <a:p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For the user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, I built a manual 'Clear' protocol.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Because this is an in-memory session log, this gives the user immediate agency and privacy to wipe sensitive calculations on demand. </a:t>
            </a:r>
          </a:p>
          <a:p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For the machine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, I implemented a </a:t>
            </a:r>
            <a:r>
              <a:rPr lang="en-US" sz="12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timedelta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auto-prune. If a user leaves the workstation running for days, an infinitely growing list would cause a memory leak.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en-US" sz="12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timedelta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silently sweeps the background, pruning records older than 24 hours to protect system RAM.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It is a dual-layered approach protecting both user privacy and hardware stability.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BF230-9E9F-F791-7CA8-A84A565203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66879D-588B-4FB3-89C1-5E53861D6BA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7452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65955-EFCB-CA8C-ED93-7D6CD5BB3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2CFAF0-3916-CD96-07AB-36A592706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F6E824-645C-C864-C910-7A5952D9DF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Slide 12 covers the reality of the development process: defensive architecture.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biggest hurdle wasn't making the math work; it was handling unpredictable user behavior.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To protect the core engine, I had to implement strict security. </a:t>
            </a: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First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, to prevent code-injection vulnerabilities, I completely bypassed Python's standard </a:t>
            </a:r>
            <a:r>
              <a:rPr lang="en-US" sz="12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eval()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function, implementing strict AST (Abstract Syntax Tree) parsing instead.</a:t>
            </a:r>
          </a:p>
          <a:p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Second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, I tackled 'Variable Clashes’.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 the Scientific tab, 'e' is Euler's number.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If a user typed an algebraic expression like '5e + 2', standard calculators would resolve it by putting the value of ”e” instead of considering it as a character.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To solve this, I engineered a Smart Redirect that detects stray variables, suspends the thread, and safely ports the user's input directly into the Algebra tab.</a:t>
            </a:r>
          </a:p>
          <a:p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Third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, once inside that Algebra workspace, I re-engineered how the system handles bad inputs.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Instead of throwing fatal Python errors when a user types an impossible equation, the engine catches the exception and outputs educational 'Hints'—which you can see on the screen here.</a:t>
            </a:r>
          </a:p>
          <a:p>
            <a:endParaRPr lang="en-US" dirty="0"/>
          </a:p>
          <a:p>
            <a:r>
              <a:rPr lang="en-US" b="1" dirty="0"/>
              <a:t>Finally</a:t>
            </a:r>
            <a:r>
              <a:rPr lang="en-US" dirty="0"/>
              <a:t>, I built Singleton window controls to prevent UI memory leaks from users spamming buttons. </a:t>
            </a:r>
          </a:p>
          <a:p>
            <a:r>
              <a:rPr lang="en-US" dirty="0"/>
              <a:t>I implemented two distinct behaviors: </a:t>
            </a:r>
          </a:p>
          <a:p>
            <a:r>
              <a:rPr lang="en-US" dirty="0"/>
              <a:t>If a user clicks the History button multiple times, the active window seamlessly refreshes its data stream. </a:t>
            </a:r>
          </a:p>
          <a:p>
            <a:r>
              <a:rPr lang="en-US" dirty="0"/>
              <a:t>But if they spam the 'About' button, the window physically 'shakes' to acknowledge the click without spawning duplicate frames.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It's important to note these four features are just the tip of the iceberg.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full development cycle required dozens of iterative patches—from rewriting percentage decimal logic, to isolating Fibonacci edge-cases, </a:t>
            </a:r>
            <a:r>
              <a:rPr lang="en-US" b="0" dirty="0">
                <a:latin typeface="Segoe UI" panose="020B0502040204020203" pitchFamily="34" charset="0"/>
                <a:cs typeface="Segoe UI" panose="020B0502040204020203" pitchFamily="34" charset="0"/>
              </a:rPr>
              <a:t>to building regex protocols that safely strip leading zeros (like </a:t>
            </a:r>
            <a:r>
              <a:rPr lang="en-US" sz="1200" b="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0090</a:t>
            </a:r>
            <a:r>
              <a:rPr lang="en-US" b="0" dirty="0">
                <a:latin typeface="Segoe UI" panose="020B0502040204020203" pitchFamily="34" charset="0"/>
                <a:cs typeface="Segoe UI" panose="020B0502040204020203" pitchFamily="34" charset="0"/>
              </a:rPr>
              <a:t>) to prevent parser crashes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, to completely rebuilding the BMI tab for Imperial dual-inputs.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8C619-E795-3DB1-DEC7-E48C2A4163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66879D-588B-4FB3-89C1-5E53861D6BAA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91415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To understand the final architecture of </a:t>
            </a:r>
            <a:r>
              <a:rPr lang="en-US" b="1" i="0" dirty="0">
                <a:latin typeface="Segoe UI" panose="020B0502040204020203" pitchFamily="34" charset="0"/>
                <a:cs typeface="Segoe UI" panose="020B0502040204020203" pitchFamily="34" charset="0"/>
              </a:rPr>
              <a:t>CalcSuite Pro</a:t>
            </a: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, we have to look at the trial-and-error roadmap. </a:t>
            </a:r>
          </a:p>
          <a:p>
            <a:endParaRPr lang="en-US" i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Starting on the bottom left, </a:t>
            </a:r>
            <a:r>
              <a:rPr lang="en-US" b="1" i="0" dirty="0">
                <a:latin typeface="Segoe UI" panose="020B0502040204020203" pitchFamily="34" charset="0"/>
                <a:cs typeface="Segoe UI" panose="020B0502040204020203" pitchFamily="34" charset="0"/>
              </a:rPr>
              <a:t>Version 1</a:t>
            </a: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 was built exactly to the initial requirements: a basic </a:t>
            </a:r>
            <a:r>
              <a:rPr lang="en-US" b="1" i="0" dirty="0">
                <a:latin typeface="Segoe UI" panose="020B0502040204020203" pitchFamily="34" charset="0"/>
                <a:cs typeface="Segoe UI" panose="020B0502040204020203" pitchFamily="34" charset="0"/>
              </a:rPr>
              <a:t>Tkinter </a:t>
            </a: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prototype. </a:t>
            </a: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However, 'legacy' Tkinter was rigid and buggy. </a:t>
            </a: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I faced inverted theme toggles and a severe memory leak where the History window infinitely duplicated itself.</a:t>
            </a:r>
          </a:p>
          <a:p>
            <a:endParaRPr lang="en-US" i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As I mentioned earlier in Slide 3, this is exactly why I made the architectural decision to migrate entirely to </a:t>
            </a:r>
            <a:r>
              <a:rPr lang="en-US" b="1" i="0" dirty="0">
                <a:latin typeface="Segoe UI" panose="020B0502040204020203" pitchFamily="34" charset="0"/>
                <a:cs typeface="Segoe UI" panose="020B0502040204020203" pitchFamily="34" charset="0"/>
              </a:rPr>
              <a:t>CustomTkinter</a:t>
            </a: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By </a:t>
            </a:r>
            <a:r>
              <a:rPr lang="en-US" b="1" i="0" dirty="0">
                <a:latin typeface="Segoe UI" panose="020B0502040204020203" pitchFamily="34" charset="0"/>
                <a:cs typeface="Segoe UI" panose="020B0502040204020203" pitchFamily="34" charset="0"/>
              </a:rPr>
              <a:t>Version 3</a:t>
            </a: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, the layout was clean, and I had added hover animations, decimal limiters, and Fibonacci generators. </a:t>
            </a:r>
          </a:p>
          <a:p>
            <a:endParaRPr lang="en-US" i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Moving to the center, </a:t>
            </a:r>
            <a:r>
              <a:rPr lang="en-US" b="1" i="0" dirty="0">
                <a:latin typeface="Segoe UI" panose="020B0502040204020203" pitchFamily="34" charset="0"/>
                <a:cs typeface="Segoe UI" panose="020B0502040204020203" pitchFamily="34" charset="0"/>
              </a:rPr>
              <a:t>Version 4</a:t>
            </a: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 focused entirely on security. </a:t>
            </a: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Standard calculators use </a:t>
            </a:r>
            <a:r>
              <a:rPr lang="en-US" sz="1200" b="1" i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eval()</a:t>
            </a: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, which is a massive code-injection vulnerability. </a:t>
            </a: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I engineered the strict AST parser to replace it, and wrote regex patches to prevent the engine from crashing on leading zeros, like typing '0090’.</a:t>
            </a:r>
          </a:p>
          <a:p>
            <a:endParaRPr lang="en-US" i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But moving to the top right, we hit the project's biggest wall in </a:t>
            </a:r>
            <a:r>
              <a:rPr lang="en-US" b="1" i="0" dirty="0">
                <a:latin typeface="Segoe UI" panose="020B0502040204020203" pitchFamily="34" charset="0"/>
                <a:cs typeface="Segoe UI" panose="020B0502040204020203" pitchFamily="34" charset="0"/>
              </a:rPr>
              <a:t>Version 5.4</a:t>
            </a: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The Scientific tab was a monolith. </a:t>
            </a: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When users typed algebraic characters, it threw a massive </a:t>
            </a:r>
            <a:r>
              <a:rPr lang="en-US" b="1" i="0" dirty="0">
                <a:latin typeface="Segoe UI" panose="020B0502040204020203" pitchFamily="34" charset="0"/>
                <a:cs typeface="Segoe UI" panose="020B0502040204020203" pitchFamily="34" charset="0"/>
              </a:rPr>
              <a:t>'Feature Unavailable</a:t>
            </a: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' error. </a:t>
            </a: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The single parser couldn't separate arithmetic from algebra. </a:t>
            </a:r>
          </a:p>
          <a:p>
            <a:endParaRPr lang="en-US" i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That bottleneck forced a massive expansion: I broke the monolith into a 'Multi-Tool' suite.</a:t>
            </a: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I built the Equations tab to handle the Algebra, and I engineered the BMI and Converter tabs to push the engine beyond abstract math into real-world, continuous data handling—like processing imperial heights and live unit swaps. </a:t>
            </a:r>
          </a:p>
          <a:p>
            <a:endParaRPr lang="en-US" i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By Version </a:t>
            </a:r>
            <a:r>
              <a:rPr lang="en-US" b="1" i="0" dirty="0">
                <a:latin typeface="Segoe UI" panose="020B0502040204020203" pitchFamily="34" charset="0"/>
                <a:cs typeface="Segoe UI" panose="020B0502040204020203" pitchFamily="34" charset="0"/>
              </a:rPr>
              <a:t>6.4</a:t>
            </a: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, it was no longer just a calculator; it was a toolkit.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66879D-588B-4FB3-89C1-5E53861D6BAA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4854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Following the timeline to the top left of Slide 14, even that new Equations tab had a fatal flaw. </a:t>
            </a: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During dry-runs, users didn't want rigid input boxes; they wanted to type expressions freely. </a:t>
            </a:r>
          </a:p>
          <a:p>
            <a:endParaRPr lang="en-US" i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So, in </a:t>
            </a:r>
            <a:r>
              <a:rPr lang="en-US" b="1" i="0" dirty="0">
                <a:latin typeface="Segoe UI" panose="020B0502040204020203" pitchFamily="34" charset="0"/>
                <a:cs typeface="Segoe UI" panose="020B0502040204020203" pitchFamily="34" charset="0"/>
              </a:rPr>
              <a:t>Version 7.0</a:t>
            </a: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, I completely pivoted. </a:t>
            </a: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I engineered the Smart Algebra tab, powered by a 7-State Dispatcher that auto-detects what the user wants to do.</a:t>
            </a: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This is where I renamed the Equations Tab to “Solvers” Tab as well so as to differentiate between it and “Algebra” Tab. </a:t>
            </a: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This was the moment I rebranded the project to </a:t>
            </a:r>
            <a:r>
              <a:rPr lang="en-US" b="1" i="0" dirty="0">
                <a:latin typeface="Segoe UI" panose="020B0502040204020203" pitchFamily="34" charset="0"/>
                <a:cs typeface="Segoe UI" panose="020B0502040204020203" pitchFamily="34" charset="0"/>
              </a:rPr>
              <a:t>'</a:t>
            </a:r>
            <a:r>
              <a:rPr lang="en-US" b="1" i="0" dirty="0" err="1">
                <a:latin typeface="Segoe UI" panose="020B0502040204020203" pitchFamily="34" charset="0"/>
                <a:cs typeface="Segoe UI" panose="020B0502040204020203" pitchFamily="34" charset="0"/>
              </a:rPr>
              <a:t>CalcSuite</a:t>
            </a:r>
            <a:r>
              <a:rPr lang="en-US" b="1" i="0" dirty="0">
                <a:latin typeface="Segoe UI" panose="020B0502040204020203" pitchFamily="34" charset="0"/>
                <a:cs typeface="Segoe UI" panose="020B0502040204020203" pitchFamily="34" charset="0"/>
              </a:rPr>
              <a:t> Pro</a:t>
            </a: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’.</a:t>
            </a:r>
          </a:p>
          <a:p>
            <a:endParaRPr lang="en-US" i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However, that pivot created a new UX fracture: </a:t>
            </a: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If users typed variables in the Scientific tab, they got an error telling them to manually switch to the Algebra tab. </a:t>
            </a:r>
          </a:p>
          <a:p>
            <a:endParaRPr lang="en-US" i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Moving to the center, I solved this in </a:t>
            </a:r>
            <a:r>
              <a:rPr lang="en-US" b="1" i="0" dirty="0">
                <a:latin typeface="Segoe UI" panose="020B0502040204020203" pitchFamily="34" charset="0"/>
                <a:cs typeface="Segoe UI" panose="020B0502040204020203" pitchFamily="34" charset="0"/>
              </a:rPr>
              <a:t>Version 7.5</a:t>
            </a: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 by engineering the Smart Redirect. </a:t>
            </a: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It detects the stray variable, suspends execution, and ports the user's input directly to Algebra with a calculated 450ms transition delay—fast enough to be seamless, but slow enough that it doesn't feel like a glitch. </a:t>
            </a: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During this phase, I also stripped out legacy zombie code and fixed deep terminal regex warnings to ensure the backend was as clean as the frontend.</a:t>
            </a:r>
          </a:p>
          <a:p>
            <a:endParaRPr lang="en-US" i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Finally, landing on the bottom right, you see the culmination of this journey: </a:t>
            </a:r>
            <a:r>
              <a:rPr lang="en-US" b="1" i="0" dirty="0">
                <a:latin typeface="Segoe UI" panose="020B0502040204020203" pitchFamily="34" charset="0"/>
                <a:cs typeface="Segoe UI" panose="020B0502040204020203" pitchFamily="34" charset="0"/>
              </a:rPr>
              <a:t>Version 7.6</a:t>
            </a: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This final release was about absolute stability. </a:t>
            </a:r>
          </a:p>
          <a:p>
            <a:endParaRPr lang="en-US" i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I implemented Epsilon tolerances to eliminate floating-point binary errors, engineered dictionary-based polynomial mapping, and fixed final UI geometry bugs—like the Fibonacci error overflow. It is a complete evolution from a fragile, single-screen prototype into a highly secure, professional </a:t>
            </a:r>
            <a:r>
              <a:rPr lang="en-US" b="1" i="0" dirty="0">
                <a:latin typeface="Segoe UI" panose="020B0502040204020203" pitchFamily="34" charset="0"/>
                <a:cs typeface="Segoe UI" panose="020B0502040204020203" pitchFamily="34" charset="0"/>
              </a:rPr>
              <a:t>Digi-</a:t>
            </a:r>
            <a:r>
              <a:rPr lang="en-US" b="1" i="0" dirty="0" err="1">
                <a:latin typeface="Segoe UI" panose="020B0502040204020203" pitchFamily="34" charset="0"/>
                <a:cs typeface="Segoe UI" panose="020B0502040204020203" pitchFamily="34" charset="0"/>
              </a:rPr>
              <a:t>ToolKit</a:t>
            </a: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66879D-588B-4FB3-89C1-5E53861D6BAA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8783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To conclude, </a:t>
            </a:r>
            <a:r>
              <a:rPr lang="en-US" b="1" i="0" dirty="0">
                <a:latin typeface="Segoe UI" panose="020B0502040204020203" pitchFamily="34" charset="0"/>
                <a:cs typeface="Segoe UI" panose="020B0502040204020203" pitchFamily="34" charset="0"/>
              </a:rPr>
              <a:t>CalcSuite Pro</a:t>
            </a: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 represents more than just a functional calculator; it represents a successful engineering pivot. </a:t>
            </a: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We began with a monolithic, vulnerable prototype and arrived at a modular, zero-trust workstation. </a:t>
            </a: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We’ve proven that we don't have to sacrifice a professional user experience to achieve hardcore mathematical precision.</a:t>
            </a:r>
          </a:p>
          <a:p>
            <a:endParaRPr lang="en-US" i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Looking ahead, the roadmap is focused on accessibility and scale. </a:t>
            </a: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By migrating to a Streamlit web framework and compiling into native executables, we remove the barriers to entry for the end-user. </a:t>
            </a: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Furthermore, by integrating live APIs for the converter and adding dynamic graphing for the solvers, we transition this tool from a static utility into a live, analytical engine.</a:t>
            </a:r>
          </a:p>
          <a:p>
            <a:endParaRPr lang="en-IN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66879D-588B-4FB3-89C1-5E53861D6BAA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3474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Thank you for your time. </a:t>
            </a:r>
          </a:p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I am now open to any questions regarding the architecture or the logic behind CalcSuite Pro.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66879D-588B-4FB3-89C1-5E53861D6BAA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133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A306E-9024-3C42-D671-1A3DF4CCE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AAC9D6-B989-EAA8-CD4E-9B1485CCB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ED6DA-2B02-55A0-B643-22F7C6D02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C549A-2B5C-40C7-A9C4-A22C1D5184C9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32B66-A6EA-47DC-B9F2-0AD3240A7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87E6D-D4E9-A09F-544F-7CA87DD7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E9BAD-ADD7-4AFC-AE74-E5C3E96F8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063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EEDE3-311B-15C4-5794-8CAFB9C2E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59821-B65C-E613-40C3-155C301C8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534C9-8D8A-8A14-6D45-7A10495F6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C549A-2B5C-40C7-A9C4-A22C1D5184C9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368A5-27A0-80E0-EA01-2A6B708CB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32015-ED01-2AE7-FCAF-C439FD386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E9BAD-ADD7-4AFC-AE74-E5C3E96F8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015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9C2F3-CA4D-4C9C-38F1-6A0DCF04E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6A3E08-1B2E-CF2B-9F3C-CC7289969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42C08-DE3B-76DB-53B8-79F7E8ED8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C549A-2B5C-40C7-A9C4-A22C1D5184C9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7C870-B29B-04FF-3DAB-E6FF76F8A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19449-2329-6EF8-C018-C7E381185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E9BAD-ADD7-4AFC-AE74-E5C3E96F8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677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079CC-8905-F90C-7125-844354A90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D6DB4-A8CA-53F7-9AB1-ADD92332B1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18C777-942B-2A4B-BDCE-098385F94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160A1-FA76-70E1-101D-4CFAB127F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C549A-2B5C-40C7-A9C4-A22C1D5184C9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5E8C7-A455-CB38-96C1-BDE11575D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BCF9E-2EA5-D530-8309-6BEBB21ED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E9BAD-ADD7-4AFC-AE74-E5C3E96F8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598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79DBE-5E1E-42CA-9C18-A28871A09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6FC778-12AF-64B6-36D2-F93C4764B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A4A6B7-9FB1-7901-D920-2E39D5A2A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9BDDD8-74BB-4FA0-5375-BBD43C5926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817DFC-8259-4F48-438E-5CE8CDF09D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6549BE-BC83-9D26-D01F-656CCEB44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C549A-2B5C-40C7-A9C4-A22C1D5184C9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611D6D-E8CD-27AA-E2E7-42BB66A44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478F3A-1AE3-28E6-72FF-AB3334826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E9BAD-ADD7-4AFC-AE74-E5C3E96F8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467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5197D-2365-AFCB-6276-D4C6E3E63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CC7F9-11CC-0D4F-4167-641922F0D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C549A-2B5C-40C7-A9C4-A22C1D5184C9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85C09B-620A-0700-7B85-B70F967C2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480A9F-61CF-26FA-9E25-073E743EE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E9BAD-ADD7-4AFC-AE74-E5C3E96F8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22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26104F-BDC2-252E-AA27-0322C8AA6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C549A-2B5C-40C7-A9C4-A22C1D5184C9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488004-568F-93C5-14A1-B1AB7DEB4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B3B25-A946-2CB1-F3ED-9A8F9D43E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E9BAD-ADD7-4AFC-AE74-E5C3E96F8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827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81454-6A73-E099-9CE9-E5DAFD012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0FE63-0E17-5011-EAFB-179257E14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B8ECA-92A6-EBF1-98E1-392E146E7F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B74FC-7C2A-DF47-3AE2-BCB7BCD86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C549A-2B5C-40C7-A9C4-A22C1D5184C9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CD8AA-8CF2-627A-DABB-A2E6224CB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B7D359-5E4B-A9D5-18EB-07883ABAD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E9BAD-ADD7-4AFC-AE74-E5C3E96F8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005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A2A9F-1873-322E-78EC-6AE3FE989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AA98FF-C1F5-3E42-28A5-F87D802EB5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31E6F-3C2C-1AC6-6B7F-FD3D70FEB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FD24C-2A22-E625-F178-0B2568AFE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C549A-2B5C-40C7-A9C4-A22C1D5184C9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13131-63BF-B9B6-F23F-9806B0E94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5CC32-D3BA-AB7B-411B-DC0D0415D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E9BAD-ADD7-4AFC-AE74-E5C3E96F8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677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2AD6E-FCDF-D1EE-5869-F3FFDB371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53F099-00CE-B5DE-F766-39233F8F2C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93B43-A075-ABF0-9ECF-B3007EAF7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C549A-2B5C-40C7-A9C4-A22C1D5184C9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7B5F0-C69F-4DFD-5F52-34CE39E37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83D95-4AAB-FEB7-0361-AA791A8E2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E9BAD-ADD7-4AFC-AE74-E5C3E96F8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121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563630-A57F-D1BA-A44D-376386E2A7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3AF426-DC51-C0B6-61AD-23C538F76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B6B96-732F-1EC6-0127-BFC3A3FB2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C549A-2B5C-40C7-A9C4-A22C1D5184C9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8874A-7B45-2DC5-DD19-4C80BD4E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F1049-2489-F465-9EB2-CD87646CC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E9BAD-ADD7-4AFC-AE74-E5C3E96F8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318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2CE5D6-33CD-EDF3-5D07-B3F0444EF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826A76-59C9-6679-5C48-06B00254C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DDFF7-BB5C-5A45-745E-3704E14405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5C549A-2B5C-40C7-A9C4-A22C1D5184C9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2FEB1-D9E2-80E6-54D4-818AE8188F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07A5A-8E41-14F3-A927-AE4D66C0D2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8E9BAD-ADD7-4AFC-AE74-E5C3E96F8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100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B806E6-84C7-CD11-C129-F5F07E5BD8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26" y="334297"/>
            <a:ext cx="11562342" cy="5820697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ED42FA-DDEB-3C01-8D04-CB6811F6473E}"/>
              </a:ext>
            </a:extLst>
          </p:cNvPr>
          <p:cNvSpPr txBox="1"/>
          <p:nvPr/>
        </p:nvSpPr>
        <p:spPr>
          <a:xfrm>
            <a:off x="6823194" y="6339037"/>
            <a:ext cx="5112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Yousuf S. R. Sakkaf | Version 7.6 Final Release</a:t>
            </a:r>
            <a:endParaRPr lang="en-IN" b="1" dirty="0">
              <a:solidFill>
                <a:schemeClr val="tx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48427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D4F58-3201-7D0C-C79C-8A523CD14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19876-E740-78D2-5EB8-EF70602D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8895"/>
            <a:ext cx="10515600" cy="694944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</a:rPr>
              <a:t>Project Scope &amp; Requirements</a:t>
            </a:r>
            <a:endParaRPr lang="en-IN" sz="400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331AB62-097D-EE3B-9599-8E702BE81A7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8384" y="903839"/>
            <a:ext cx="3023615" cy="5948902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56854F9-064C-2989-D0E2-847F735CA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1806" y="2016892"/>
            <a:ext cx="8502973" cy="4999604"/>
          </a:xfrm>
        </p:spPr>
        <p:txBody>
          <a:bodyPr>
            <a:normAutofit fontScale="62500" lnSpcReduction="20000"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IN" sz="38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Requirements</a:t>
            </a: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2900" b="1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Documented Baseline:</a:t>
            </a:r>
            <a:r>
              <a:rPr lang="en-IN" sz="29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Basic Tkinter GUI for standard arithmetic.</a:t>
            </a:r>
          </a:p>
          <a:p>
            <a:r>
              <a:rPr lang="en-IN" sz="2900" b="1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Additional Expansion 1:</a:t>
            </a:r>
            <a:r>
              <a:rPr lang="en-IN" sz="29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Integration of essential scientific operations.</a:t>
            </a:r>
          </a:p>
          <a:p>
            <a:r>
              <a:rPr lang="en-IN" sz="2900" b="1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Additional Expansion 2:</a:t>
            </a:r>
            <a:r>
              <a:rPr lang="en-IN" sz="29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Implementation of algebraic variable simplification.</a:t>
            </a:r>
          </a:p>
          <a:p>
            <a:pPr marL="0" indent="0">
              <a:buNone/>
            </a:pP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IN" sz="3800" b="1" dirty="0">
              <a:solidFill>
                <a:schemeClr val="accent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IN" sz="3800" b="1" dirty="0">
              <a:solidFill>
                <a:schemeClr val="accent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spcBef>
                <a:spcPts val="400"/>
              </a:spcBef>
              <a:spcAft>
                <a:spcPts val="800"/>
              </a:spcAft>
              <a:buNone/>
            </a:pPr>
            <a:r>
              <a:rPr lang="en-IN" sz="38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Delivered Suite</a:t>
            </a: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2900" b="1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Architecture:</a:t>
            </a:r>
            <a:r>
              <a:rPr lang="en-IN" sz="29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5-Tab CustomTkinter GUI replacing the single-screen constraint.</a:t>
            </a:r>
          </a:p>
          <a:p>
            <a:r>
              <a:rPr lang="en-IN" sz="2900" b="1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Logic:</a:t>
            </a:r>
            <a:r>
              <a:rPr lang="en-IN" sz="29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Regex-powered dispatcher engineered for complex algebra.</a:t>
            </a:r>
          </a:p>
          <a:p>
            <a:r>
              <a:rPr lang="en-IN" sz="2900" b="1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Security:</a:t>
            </a:r>
            <a:r>
              <a:rPr lang="en-IN" sz="29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Standard evaluation replaced with a zero-trust AST parsing engine.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C64049-C489-0B36-96D7-DF4D1145DE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" y="3538728"/>
            <a:ext cx="2514600" cy="15814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F525E9-A19A-C99A-7DFA-710C1445A314}"/>
              </a:ext>
            </a:extLst>
          </p:cNvPr>
          <p:cNvSpPr txBox="1"/>
          <p:nvPr/>
        </p:nvSpPr>
        <p:spPr>
          <a:xfrm>
            <a:off x="751806" y="1015809"/>
            <a:ext cx="8363712" cy="84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Core Identity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professional, multi-tool mathematical workstation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1756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256" end="3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charRg st="256" end="3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334" end="3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charRg st="334" end="3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398" end="4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charRg st="398" end="4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  <p:bldP spid="3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CF7574F-2984-AD3E-CF75-9DD4CD944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1473"/>
            <a:ext cx="10515600" cy="656456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</a:rPr>
              <a:t>Architecture &amp; UI/UX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0C2013C2-C228-F1FE-0227-082E3FFAD6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3585" y="922647"/>
            <a:ext cx="3328416" cy="5935353"/>
          </a:xfrm>
          <a:prstGeom prst="rect">
            <a:avLst/>
          </a:prstGeom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A48632F7-0748-F558-658E-0593C991F0E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94146" y="1489666"/>
            <a:ext cx="8669309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Framework Selection: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Adopted </a:t>
            </a: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customtkinter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(Python 3.10+) to replace legacy graphics.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Enabled hardware-accelerated rendering and native Light/Dark themes.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Object-Oriented Structure: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b="1" dirty="0">
              <a:solidFill>
                <a:schemeClr val="accent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Centralized state management via a primary GUI Class.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Five independent </a:t>
            </a:r>
            <a:r>
              <a:rPr lang="en-US" altLang="en-US" sz="1800" b="1" i="1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TabView</a:t>
            </a:r>
            <a:r>
              <a:rPr lang="en-US" altLang="en-US" sz="18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frames routed through a single master window.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UX Engineering:</a:t>
            </a:r>
          </a:p>
          <a:p>
            <a:pPr marL="0"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b="1" dirty="0">
              <a:solidFill>
                <a:schemeClr val="accent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Engineered a 450ms state-transition delay to prevent jarring UI flashes.</a:t>
            </a:r>
          </a:p>
          <a:p>
            <a:pPr marL="0"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Implemented responsive grid geometry to prevent window clipping.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5622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7925D-B2BF-B2FF-F986-DDB8496BF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886"/>
            <a:ext cx="10515600" cy="76873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</a:rPr>
              <a:t>Tab 1 - Scientific Engine &amp; Security</a:t>
            </a:r>
            <a:endParaRPr lang="en-IN" sz="4000" b="1" dirty="0">
              <a:solidFill>
                <a:schemeClr val="accent1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pic>
        <p:nvPicPr>
          <p:cNvPr id="15" name="Content Placeholder 9">
            <a:extLst>
              <a:ext uri="{FF2B5EF4-FFF2-40B4-BE49-F238E27FC236}">
                <a16:creationId xmlns:a16="http://schemas.microsoft.com/office/drawing/2014/main" id="{A4C0C497-7579-8E9A-0AA5-A5A6E53F40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6737" y="938784"/>
            <a:ext cx="3255264" cy="591921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E0DB7A5-66F2-72BC-893B-1329E598DE44}"/>
              </a:ext>
            </a:extLst>
          </p:cNvPr>
          <p:cNvSpPr txBox="1"/>
          <p:nvPr/>
        </p:nvSpPr>
        <p:spPr>
          <a:xfrm>
            <a:off x="97537" y="1127661"/>
            <a:ext cx="8631935" cy="333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Security Imperative: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Abandons vulnerable </a:t>
            </a:r>
            <a:r>
              <a:rPr lang="en-IN" b="1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eval()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and </a:t>
            </a:r>
            <a:r>
              <a:rPr lang="en-IN" b="1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exec()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functions entirely.</a:t>
            </a:r>
          </a:p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AST Parsing Engine: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Deconstructs mathematical strings into structural nodes via Python's </a:t>
            </a:r>
            <a:r>
              <a:rPr lang="en-IN" b="1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ast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module.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Nodes are strictly verified against a hardcoded operator whitelist.</a:t>
            </a:r>
          </a:p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Predictable Execution: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Explicit operators (e.g., </a:t>
            </a:r>
            <a:r>
              <a:rPr lang="en-IN" b="1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2*x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deliberately enforced to prevent parser ambiguity.</a:t>
            </a: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4EDDF34A-BC97-B272-2264-7B1EB5024B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8946157"/>
              </p:ext>
            </p:extLst>
          </p:nvPr>
        </p:nvGraphicFramePr>
        <p:xfrm>
          <a:off x="-731519" y="4554240"/>
          <a:ext cx="5254751" cy="1761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06E309D3-A77C-6D74-7F3A-F926BE7C42C7}"/>
              </a:ext>
            </a:extLst>
          </p:cNvPr>
          <p:cNvSpPr txBox="1"/>
          <p:nvPr/>
        </p:nvSpPr>
        <p:spPr>
          <a:xfrm>
            <a:off x="97537" y="6408037"/>
            <a:ext cx="2839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Example AST: 2*x + 5</a:t>
            </a:r>
            <a:endParaRPr lang="en-IN" b="1" i="1" dirty="0">
              <a:solidFill>
                <a:schemeClr val="tx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6785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Graphic spid="20" grpId="0">
        <p:bldAsOne/>
      </p:bldGraphic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E1ACE-2E6E-D5B1-7F2D-7DB6C7D28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1E20F-D65E-90D5-18A6-7F4CB02A7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7" y="246664"/>
            <a:ext cx="12094463" cy="551567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</a:rPr>
              <a:t>Tab 1 - Scientific Engine (Advanced Features)</a:t>
            </a:r>
            <a:endParaRPr lang="en-IN" sz="4000" b="1" dirty="0">
              <a:solidFill>
                <a:schemeClr val="accent1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ED1304-3A9B-378D-55FE-F5BFD1985044}"/>
              </a:ext>
            </a:extLst>
          </p:cNvPr>
          <p:cNvSpPr txBox="1"/>
          <p:nvPr/>
        </p:nvSpPr>
        <p:spPr>
          <a:xfrm>
            <a:off x="97537" y="1339312"/>
            <a:ext cx="8692895" cy="4996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Fulfilling Additional Requirements:</a:t>
            </a:r>
            <a:endParaRPr lang="en-IN" sz="2400" dirty="0">
              <a:solidFill>
                <a:schemeClr val="accent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Engine scaled beyond standard arithmetic to include comprehensive scientific operations.</a:t>
            </a:r>
          </a:p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Advanced Mathematical Suite:</a:t>
            </a:r>
            <a:endParaRPr lang="en-IN" sz="2400" dirty="0">
              <a:solidFill>
                <a:schemeClr val="accent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Non-Linear Math: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Natively handles roots (</a:t>
            </a:r>
            <a:r>
              <a:rPr lang="en-IN" b="1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√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), powers (</a:t>
            </a:r>
            <a:r>
              <a:rPr lang="en-IN" b="1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^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), logs, and trigonometry (with global DEG/RAD tracking).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Combinatorics &amp; Sequences: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Integrated functions for factorials, </a:t>
            </a:r>
            <a:r>
              <a:rPr lang="en-IN" b="1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nPr, nCr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and Fibonacci generation.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Radix Conversions: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Programmed specific computational translations (DEC to BIN/HEX, and BIN to DEC).</a:t>
            </a:r>
          </a:p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Constant Integration:</a:t>
            </a:r>
            <a:endParaRPr lang="en-IN" sz="2400" dirty="0">
              <a:solidFill>
                <a:schemeClr val="accent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Hardcoded support for mathematical constants (</a:t>
            </a:r>
            <a:r>
              <a:rPr lang="el-GR" b="1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π</a:t>
            </a:r>
            <a:r>
              <a:rPr lang="el-GR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</a:t>
            </a:r>
            <a:r>
              <a:rPr lang="en-IN" b="1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directly within the AST parsing sequence.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10CB35-7329-401A-420F-423BD9F5EB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081" y="816864"/>
            <a:ext cx="3169920" cy="604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6623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7F50B-F5BE-4DDB-6A9C-29CACCA01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7EC4D-870B-971E-CA28-570118EA2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7" y="265297"/>
            <a:ext cx="12094463" cy="551567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</a:rPr>
              <a:t>Tab 3 - Smart Algebra (Engine Logic)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97D4E95-6AE8-9BDC-D70A-A19AFD641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37" y="1120270"/>
            <a:ext cx="6132575" cy="5221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 7-State Dispatcher:</a:t>
            </a:r>
            <a:endParaRPr lang="en-US" altLang="en-US" sz="2400" dirty="0">
              <a:solidFill>
                <a:schemeClr val="accent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Engine auto-detects natural language input and routes to one of 7 distinct mathematical states (from pure arithmetic to bracket expansion).</a:t>
            </a:r>
          </a:p>
          <a:p>
            <a:pPr eaLnBrk="0" fontAlgn="base" hangingPunct="0">
              <a:spcBef>
                <a:spcPts val="1800"/>
              </a:spcBef>
              <a:spcAft>
                <a:spcPts val="1200"/>
              </a:spcAft>
            </a:pPr>
            <a:r>
              <a:rPr lang="en-US" altLang="en-US" sz="2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Dictionary-Based Engine Scope: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Establishes a deliberate architectural boundary against full CAS (Computer Algebra Systems).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Utilizes robust Dictionary mapping 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defaultdict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to safely extract, collect, and stack polynomial like-terms.</a:t>
            </a:r>
          </a:p>
          <a:p>
            <a:pPr marR="0" lvl="0" eaLnBrk="0" fontAlgn="base" hangingPunct="0">
              <a:lnSpc>
                <a:spcPct val="100000"/>
              </a:lnSpc>
              <a:spcBef>
                <a:spcPts val="1800"/>
              </a:spcBef>
              <a:spcAft>
                <a:spcPts val="1200"/>
              </a:spcAft>
              <a:buClrTx/>
              <a:buSzTx/>
              <a:tabLst/>
            </a:pPr>
            <a:r>
              <a:rPr lang="en-US" altLang="en-US" sz="2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Proactive Architecture: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Type 7 Guardrail natively intercepts unsupported logic (cross-terms like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xy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or polynomials degree &gt; 2) before evaluation, returning graceful UI hints.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B7BB028-1C4D-24DC-FAF1-C27C8C203C6C}"/>
              </a:ext>
            </a:extLst>
          </p:cNvPr>
          <p:cNvSpPr/>
          <p:nvPr/>
        </p:nvSpPr>
        <p:spPr>
          <a:xfrm>
            <a:off x="8138160" y="1961582"/>
            <a:ext cx="3230880" cy="440306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i="1" dirty="0">
                <a:latin typeface="Segoe UI" panose="020B0502040204020203" pitchFamily="34" charset="0"/>
                <a:cs typeface="Segoe UI" panose="020B0502040204020203" pitchFamily="34" charset="0"/>
              </a:rPr>
              <a:t>Type 1 : Numeric Bypass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0936F0C-6075-7810-3C4C-4B617C404836}"/>
              </a:ext>
            </a:extLst>
          </p:cNvPr>
          <p:cNvSpPr/>
          <p:nvPr/>
        </p:nvSpPr>
        <p:spPr>
          <a:xfrm>
            <a:off x="8138160" y="2684575"/>
            <a:ext cx="3230880" cy="440306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i="1" dirty="0">
                <a:latin typeface="Segoe UI" panose="020B0502040204020203" pitchFamily="34" charset="0"/>
                <a:cs typeface="Segoe UI" panose="020B0502040204020203" pitchFamily="34" charset="0"/>
              </a:rPr>
              <a:t>Type 2 : Simplification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3CAC0E1-D893-D9E7-BA1A-D3249568863D}"/>
              </a:ext>
            </a:extLst>
          </p:cNvPr>
          <p:cNvSpPr/>
          <p:nvPr/>
        </p:nvSpPr>
        <p:spPr>
          <a:xfrm>
            <a:off x="8138160" y="3407568"/>
            <a:ext cx="3230880" cy="440306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i="1" dirty="0">
                <a:latin typeface="Segoe UI" panose="020B0502040204020203" pitchFamily="34" charset="0"/>
                <a:cs typeface="Segoe UI" panose="020B0502040204020203" pitchFamily="34" charset="0"/>
              </a:rPr>
              <a:t>Type 3 : Linear (1 var)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CC0361D-5EA8-4EEA-1E05-1103588AC3C2}"/>
              </a:ext>
            </a:extLst>
          </p:cNvPr>
          <p:cNvSpPr/>
          <p:nvPr/>
        </p:nvSpPr>
        <p:spPr>
          <a:xfrm>
            <a:off x="8138160" y="4130561"/>
            <a:ext cx="3230880" cy="440306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i="1" dirty="0">
                <a:latin typeface="Segoe UI" panose="020B0502040204020203" pitchFamily="34" charset="0"/>
                <a:cs typeface="Segoe UI" panose="020B0502040204020203" pitchFamily="34" charset="0"/>
              </a:rPr>
              <a:t>Type 4 : Linear (2x2)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95B9ECE-5FA5-0384-E8FC-A9CCE1BB9F40}"/>
              </a:ext>
            </a:extLst>
          </p:cNvPr>
          <p:cNvSpPr/>
          <p:nvPr/>
        </p:nvSpPr>
        <p:spPr>
          <a:xfrm>
            <a:off x="8138160" y="4853554"/>
            <a:ext cx="3230880" cy="440306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i="1" dirty="0">
                <a:latin typeface="Segoe UI" panose="020B0502040204020203" pitchFamily="34" charset="0"/>
                <a:cs typeface="Segoe UI" panose="020B0502040204020203" pitchFamily="34" charset="0"/>
              </a:rPr>
              <a:t>Type 5 : Quadratic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65CDEE9-8FF5-4496-3CF0-A5F159216A38}"/>
              </a:ext>
            </a:extLst>
          </p:cNvPr>
          <p:cNvSpPr/>
          <p:nvPr/>
        </p:nvSpPr>
        <p:spPr>
          <a:xfrm>
            <a:off x="8138160" y="5576547"/>
            <a:ext cx="3230880" cy="440306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Type 6 : Bracket Expansion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F7CEC47-EB33-25CC-1B45-FFB9B8D4E663}"/>
              </a:ext>
            </a:extLst>
          </p:cNvPr>
          <p:cNvSpPr/>
          <p:nvPr/>
        </p:nvSpPr>
        <p:spPr>
          <a:xfrm>
            <a:off x="8138160" y="6299540"/>
            <a:ext cx="3230880" cy="440306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Type 7 : Polynomial Guard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20E664-8C4F-5EFB-1B36-C4E3CF37A18B}"/>
              </a:ext>
            </a:extLst>
          </p:cNvPr>
          <p:cNvSpPr txBox="1"/>
          <p:nvPr/>
        </p:nvSpPr>
        <p:spPr>
          <a:xfrm>
            <a:off x="7996989" y="1158390"/>
            <a:ext cx="3513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Smart Dispatcher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D321833-DE71-12C7-8BC7-2157678F916D}"/>
              </a:ext>
            </a:extLst>
          </p:cNvPr>
          <p:cNvCxnSpPr/>
          <p:nvPr/>
        </p:nvCxnSpPr>
        <p:spPr>
          <a:xfrm>
            <a:off x="8138160" y="1620055"/>
            <a:ext cx="3230880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F26D542-1142-EECA-2A87-AD7D319A5EE0}"/>
              </a:ext>
            </a:extLst>
          </p:cNvPr>
          <p:cNvSpPr/>
          <p:nvPr/>
        </p:nvSpPr>
        <p:spPr>
          <a:xfrm>
            <a:off x="8138159" y="1961582"/>
            <a:ext cx="3230880" cy="440306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Type 1 : Numeric Bypass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A236F2C-B6C7-5E0C-9EE9-90B5F0D904D0}"/>
              </a:ext>
            </a:extLst>
          </p:cNvPr>
          <p:cNvSpPr/>
          <p:nvPr/>
        </p:nvSpPr>
        <p:spPr>
          <a:xfrm>
            <a:off x="8138159" y="2684575"/>
            <a:ext cx="3230880" cy="440306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Type 2 : Simplification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0CD22A7-A203-BFED-C4EB-F635FBB5A545}"/>
              </a:ext>
            </a:extLst>
          </p:cNvPr>
          <p:cNvSpPr/>
          <p:nvPr/>
        </p:nvSpPr>
        <p:spPr>
          <a:xfrm>
            <a:off x="8138159" y="3407568"/>
            <a:ext cx="3230880" cy="440306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Type 3 : Linear (1 var)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1E3C487-FE10-9AE0-B9D6-BFD98B142320}"/>
              </a:ext>
            </a:extLst>
          </p:cNvPr>
          <p:cNvSpPr/>
          <p:nvPr/>
        </p:nvSpPr>
        <p:spPr>
          <a:xfrm>
            <a:off x="8138159" y="4130561"/>
            <a:ext cx="3230880" cy="440306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Type 4 : Linear (2x2)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8FD30EB7-AFD7-37EE-C0AA-62AFAB9811FA}"/>
              </a:ext>
            </a:extLst>
          </p:cNvPr>
          <p:cNvSpPr/>
          <p:nvPr/>
        </p:nvSpPr>
        <p:spPr>
          <a:xfrm>
            <a:off x="8138159" y="4853554"/>
            <a:ext cx="3230880" cy="440306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Type 5 : Quadratic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867760-C04D-D2B4-67F9-4FAADA3C25F2}"/>
              </a:ext>
            </a:extLst>
          </p:cNvPr>
          <p:cNvCxnSpPr/>
          <p:nvPr/>
        </p:nvCxnSpPr>
        <p:spPr>
          <a:xfrm>
            <a:off x="8138159" y="1620055"/>
            <a:ext cx="3230880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7975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24067-48CE-71CB-2CB4-00440FCB5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4D928-CFD5-CD6A-50AB-D1CB39BC9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7" y="155569"/>
            <a:ext cx="12094463" cy="551567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</a:rPr>
              <a:t>Tab 3: Smart Algebra (Live Execution)</a:t>
            </a:r>
            <a:endParaRPr lang="en-IN" sz="4000" b="1" dirty="0">
              <a:solidFill>
                <a:schemeClr val="accent1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482C59-A2FE-AD04-8E38-08029D2F2DA6}"/>
              </a:ext>
            </a:extLst>
          </p:cNvPr>
          <p:cNvSpPr txBox="1"/>
          <p:nvPr/>
        </p:nvSpPr>
        <p:spPr>
          <a:xfrm>
            <a:off x="4612391" y="4608576"/>
            <a:ext cx="3391194" cy="451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C06B1EB4-3436-1FEC-1058-089BF93C87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446" y="1351486"/>
            <a:ext cx="3376801" cy="5506514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13A9A916-F7E0-BCC6-CAD1-382B684231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382" y="1351486"/>
            <a:ext cx="3278152" cy="3366552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96029D3F-4CF4-5F54-6872-BB130A4D8A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7435" y="1351486"/>
            <a:ext cx="3260622" cy="3356522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053A85F9-C21E-17BF-017E-41257A2BE772}"/>
              </a:ext>
            </a:extLst>
          </p:cNvPr>
          <p:cNvSpPr txBox="1"/>
          <p:nvPr/>
        </p:nvSpPr>
        <p:spPr>
          <a:xfrm>
            <a:off x="201382" y="740140"/>
            <a:ext cx="3375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State 6: Dictionary-Based Expansion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D889121-BACB-0306-E26C-69FD197DF46F}"/>
              </a:ext>
            </a:extLst>
          </p:cNvPr>
          <p:cNvSpPr txBox="1"/>
          <p:nvPr/>
        </p:nvSpPr>
        <p:spPr>
          <a:xfrm>
            <a:off x="4460602" y="705155"/>
            <a:ext cx="3375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State 7: Architecture Shield (Polynomial Guard)</a:t>
            </a:r>
            <a:endParaRPr lang="en-IN" b="1" dirty="0">
              <a:solidFill>
                <a:schemeClr val="accent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B1CA7A1-CE81-2264-6064-C356F4362F0D}"/>
              </a:ext>
            </a:extLst>
          </p:cNvPr>
          <p:cNvSpPr txBox="1"/>
          <p:nvPr/>
        </p:nvSpPr>
        <p:spPr>
          <a:xfrm>
            <a:off x="8854082" y="740139"/>
            <a:ext cx="3375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State 2: Algebra Workspace (Heuristic Simplification)</a:t>
            </a:r>
            <a:endParaRPr lang="en-IN" b="1" dirty="0">
              <a:solidFill>
                <a:schemeClr val="accent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61D628-51C6-1CE8-22D2-D0AA3F0648E5}"/>
              </a:ext>
            </a:extLst>
          </p:cNvPr>
          <p:cNvSpPr/>
          <p:nvPr/>
        </p:nvSpPr>
        <p:spPr>
          <a:xfrm>
            <a:off x="201382" y="4803648"/>
            <a:ext cx="7526675" cy="189878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200"/>
              </a:spcAft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State Routing Completion: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State 1 &amp; 3: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Standard arithmetic (Numeric Bypass) and Single-Variable Linear (1v) equations are evaluated natively within this workspace.</a:t>
            </a:r>
          </a:p>
          <a:p>
            <a:pPr>
              <a:spcBef>
                <a:spcPts val="400"/>
              </a:spcBef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State 4 &amp; 5: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Advanced Linear 2x2 and Quadratic systems evaluate natively here, with dedicated deterministic counterparts in the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Solvers Tab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(Next Slide)</a:t>
            </a: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6696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2" grpId="0"/>
      <p:bldP spid="5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374F0-9EE1-994C-5DFE-D9809CE9F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33EE1-9567-6C2F-65C0-F71D56D24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7" y="246664"/>
            <a:ext cx="12094463" cy="551567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</a:rPr>
              <a:t>Tab 2 - Structured Solvers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E7E2BEE-9D23-9CBD-CD8F-39BBA1592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821" y="1236092"/>
            <a:ext cx="8600150" cy="4385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Structured vs. Freeform UX: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Provides a dedicated coefficient-only interface for users with predefined mathematical systems, bypassing full-equation typing.</a:t>
            </a:r>
            <a:endParaRPr lang="en-US" altLang="en-US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800"/>
              </a:spcBef>
              <a:spcAft>
                <a:spcPts val="1200"/>
              </a:spcAft>
              <a:buClrTx/>
              <a:buSzTx/>
              <a:tabLst/>
            </a:pPr>
            <a:r>
              <a:rPr lang="en-US" altLang="en-US" sz="2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Matrix Calculus (2x2 Systems):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Implementation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Cramer’s Rule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to instantly detect parallel lines and evaluate intersecting coordinate variables.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b="1" dirty="0">
              <a:solidFill>
                <a:schemeClr val="accent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800"/>
              </a:spcBef>
              <a:spcAft>
                <a:spcPts val="1200"/>
              </a:spcAft>
              <a:buClrTx/>
              <a:buSzTx/>
              <a:tabLst/>
            </a:pPr>
            <a:r>
              <a:rPr lang="en-US" altLang="en-US" sz="2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Complex-Plane Processing: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Utilizes the cmath library to evaluate negative discriminants, outputting high-fidelity complex roots ( </a:t>
            </a:r>
            <a:r>
              <a:rPr lang="en-US" altLang="en-US" b="1" i="1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natively in the UI.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572137-4574-4E35-FFF1-92D952E15A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971" y="774982"/>
            <a:ext cx="3331029" cy="6083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9149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5CE78-04F1-B172-FDF9-7FF221D90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5B1A9-71DA-4D2B-3700-99B4FB55B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8" y="223415"/>
            <a:ext cx="12094463" cy="551567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</a:rPr>
              <a:t>Tab 4 - Dynamic BMI Analytics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8D5165-5056-6859-75E5-9264A4DF23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971" y="774982"/>
            <a:ext cx="3331029" cy="6083018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2D3B9410-F8B7-D3EA-D03E-F633F8765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244" y="1559257"/>
            <a:ext cx="7540978" cy="3739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2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Applied Scalar Mathematics:</a:t>
            </a: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Transitioning the engine from abstract algebra to real-world continuous data formulas (</a:t>
            </a:r>
            <a:r>
              <a:rPr lang="en-US" altLang="en-US" b="1" i="1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BMI = kg/m</a:t>
            </a:r>
            <a:r>
              <a:rPr lang="en-US" altLang="en-US" b="1" i="1" baseline="30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altLang="en-US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).</a:t>
            </a:r>
          </a:p>
          <a:p>
            <a:pPr lvl="0" eaLnBrk="0" fontAlgn="base" hangingPunct="0">
              <a:spcBef>
                <a:spcPts val="1800"/>
              </a:spcBef>
              <a:spcAft>
                <a:spcPts val="1200"/>
              </a:spcAft>
            </a:pPr>
            <a:r>
              <a:rPr lang="en-US" altLang="en-US" sz="2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Dynamic UI State Rendering: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Programmed threshold evaluations that trigger immediate visual feedback based on standardized medical categories.</a:t>
            </a:r>
          </a:p>
          <a:p>
            <a:pPr lvl="0" eaLnBrk="0" fontAlgn="base" hangingPunct="0">
              <a:spcBef>
                <a:spcPts val="1800"/>
              </a:spcBef>
              <a:spcAft>
                <a:spcPts val="1200"/>
              </a:spcAft>
            </a:pPr>
            <a:r>
              <a:rPr lang="en-US" altLang="en-US" sz="2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Real-Time Data Handling: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Engineered to securely parse and float-cast user inputs, preventing application crashes from invalid continuous data.</a:t>
            </a:r>
          </a:p>
        </p:txBody>
      </p:sp>
    </p:spTree>
    <p:extLst>
      <p:ext uri="{BB962C8B-B14F-4D97-AF65-F5344CB8AC3E}">
        <p14:creationId xmlns:p14="http://schemas.microsoft.com/office/powerpoint/2010/main" val="34850036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D499C-BCAE-E4A7-4DB0-8F4019C84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84849-E985-2C89-203B-FC15C436D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6" y="144393"/>
            <a:ext cx="12094463" cy="551567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</a:rPr>
              <a:t>Tab 5 - Scientific Converter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2CC9BE-6FFA-7903-DE73-A3AF884D5D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970" y="774982"/>
            <a:ext cx="3331030" cy="6083018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94F2B0C9-AF84-DF64-3828-1A9380638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823" y="1259175"/>
            <a:ext cx="7845778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Curated Scientific Scope: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Deliberately restricted to the 5 fundamental physical quantities (Length, Area, Weight, Speed, Temperature) to maintain a professional, bloat-free engineering environment.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800"/>
              </a:spcBef>
              <a:spcAft>
                <a:spcPts val="1200"/>
              </a:spcAft>
              <a:buClrTx/>
              <a:buSzTx/>
              <a:tabLst/>
            </a:pPr>
            <a:r>
              <a:rPr lang="en-US" altLang="en-US" sz="2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Dual-Logic Routing System: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Engineered the backend to dynamically switch between two distinct mathematical paradigms based on the active category.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800"/>
              </a:spcBef>
              <a:spcAft>
                <a:spcPts val="1200"/>
              </a:spcAft>
              <a:buClrTx/>
              <a:buSzTx/>
              <a:tabLst/>
            </a:pPr>
            <a:r>
              <a:rPr lang="en-US" altLang="en-US" sz="2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Multiplicative vs. Affine Transitions: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Seamlessly handles standard zero-intercept ratio scaling (for Length/Area/Weight/Speed) alongside complex non-zero intercept formulas (for Temperature).</a:t>
            </a:r>
          </a:p>
        </p:txBody>
      </p:sp>
    </p:spTree>
    <p:extLst>
      <p:ext uri="{BB962C8B-B14F-4D97-AF65-F5344CB8AC3E}">
        <p14:creationId xmlns:p14="http://schemas.microsoft.com/office/powerpoint/2010/main" val="38406933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43225-195C-3490-9E26-3F236A262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C3943-0C7D-878C-6FA1-262E17F07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6" y="144393"/>
            <a:ext cx="12094463" cy="551567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</a:rPr>
              <a:t>Unified History Architecture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4103A70-5626-12B2-7762-EEBA0DFF6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843" y="1029136"/>
            <a:ext cx="8374967" cy="5370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In-Memory Session Logging: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Engineered a unified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HistoryManager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that captures outputs from all tabs for the active session, deliberately wiping upon exit for data privacy.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800"/>
              </a:spcBef>
              <a:spcAft>
                <a:spcPts val="1200"/>
              </a:spcAft>
              <a:buClrTx/>
              <a:buSzTx/>
              <a:tabLst/>
            </a:pPr>
            <a:r>
              <a:rPr lang="en-US" altLang="en-US" sz="2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Contextual Data Tagging: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Programmed the engine to automatically prefix all entries (e.g.,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[Scientific]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[BMI]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to maintain clear cross-tab workflow tracking.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800"/>
              </a:spcBef>
              <a:spcAft>
                <a:spcPts val="1200"/>
              </a:spcAft>
              <a:buClrTx/>
              <a:buSzTx/>
              <a:tabLst/>
            </a:pPr>
            <a:r>
              <a:rPr lang="en-US" altLang="en-US" sz="2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Event-Driven Filtering: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Implemented selective logging logic—such as the Converter only committing to history on explicit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Enter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Swap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commands—to prevent keystroke spam.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800"/>
              </a:spcBef>
              <a:spcAft>
                <a:spcPts val="1200"/>
              </a:spcAft>
              <a:buClrTx/>
              <a:buSzTx/>
              <a:tabLst/>
            </a:pPr>
            <a:r>
              <a:rPr lang="en-US" altLang="en-US" sz="2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External Routing &amp; Auto-Pruning: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Ensured external windows (like the FIBS sequence popup) route data back to the core log, while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timedelta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sweep silently prunes active sessions older than 24 hours.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CFFCCF-7DDB-5489-7BCC-5325241EEE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970" y="774982"/>
            <a:ext cx="3331030" cy="6083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3670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E7768-26A7-FCDF-00A3-47A977BE9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B82E5-C980-1F92-3A3D-A87975A82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6" y="144393"/>
            <a:ext cx="12094463" cy="551567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</a:rPr>
              <a:t>Defensive Architecture &amp; Troubleshooting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D45D9C6-5924-16EB-7399-36E2B1A11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76" y="1132480"/>
            <a:ext cx="7906514" cy="5093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Smart Kernel Redirection: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Auto-routes unsupported variables across tabs to prevent execution failure (e.g., separating Euler's 'e' from algebraic 'e').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800"/>
              </a:spcBef>
              <a:spcAft>
                <a:spcPts val="1200"/>
              </a:spcAft>
              <a:buClrTx/>
              <a:buSzTx/>
              <a:tabLst/>
            </a:pPr>
            <a:r>
              <a:rPr lang="en-US" altLang="en-US" sz="2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Graceful Exception Handling: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Intercepts fatal system crashes and outputs educational UI hints within the Algebra workspace.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800"/>
              </a:spcBef>
              <a:spcAft>
                <a:spcPts val="1200"/>
              </a:spcAft>
              <a:buClrTx/>
              <a:buSzTx/>
              <a:tabLst/>
            </a:pPr>
            <a:r>
              <a:rPr lang="en-US" altLang="en-US" sz="2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Singleton Window Control: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Enforces strict instance-checking to prevent duplicate UI rendering and front-end memory leaks.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800"/>
              </a:spcBef>
              <a:spcAft>
                <a:spcPts val="1200"/>
              </a:spcAft>
              <a:buClrTx/>
              <a:buSzTx/>
              <a:tabLst/>
            </a:pPr>
            <a:r>
              <a:rPr lang="en-US" altLang="en-US" sz="2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AST Secure Evaluation: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Bypasses vulnerable eval() protocols in favor of strict Abstract Syntax Tree parsing to eliminate injection risks.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7C8DCD-51EF-FDE2-148A-405FCA575F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970" y="774982"/>
            <a:ext cx="3331030" cy="6083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6466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BC7C45-65B0-E6D8-B039-1000255A9218}"/>
              </a:ext>
            </a:extLst>
          </p:cNvPr>
          <p:cNvSpPr txBox="1"/>
          <p:nvPr/>
        </p:nvSpPr>
        <p:spPr>
          <a:xfrm>
            <a:off x="369570" y="0"/>
            <a:ext cx="114528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</a:rPr>
              <a:t>Evolution Phase 1 (The Engineering Roadmap)</a:t>
            </a:r>
            <a:endParaRPr lang="en-IN" sz="4000" b="1" dirty="0">
              <a:solidFill>
                <a:schemeClr val="accent1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2EB472-F2C6-14B5-D422-2D01980C8D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1443797"/>
            <a:ext cx="2902956" cy="5322763"/>
          </a:xfrm>
          <a:prstGeom prst="rect">
            <a:avLst/>
          </a:prstGeom>
          <a:effectLst>
            <a:outerShdw blurRad="152400" dist="25400" dir="18900000" sx="101000" sy="101000" algn="bl" rotWithShape="0">
              <a:prstClr val="black">
                <a:alpha val="37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FD6A98-CEC1-45C8-3C43-1DEC405A70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522" y="686652"/>
            <a:ext cx="2902956" cy="5322765"/>
          </a:xfrm>
          <a:prstGeom prst="rect">
            <a:avLst/>
          </a:prstGeom>
          <a:effectLst>
            <a:outerShdw blurRad="152400" dist="25400" dir="18900000" sx="101000" sy="101000" algn="bl" rotWithShape="0">
              <a:prstClr val="black">
                <a:alpha val="37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6FFA18-82EF-4DC4-7F5C-DE1AC7CD26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7604" y="1443796"/>
            <a:ext cx="2902956" cy="5322763"/>
          </a:xfrm>
          <a:prstGeom prst="rect">
            <a:avLst/>
          </a:prstGeom>
          <a:effectLst>
            <a:outerShdw blurRad="152400" dist="25400" dir="18900000" sx="101000" sy="101000" algn="bl" rotWithShape="0">
              <a:prstClr val="black">
                <a:alpha val="37000"/>
              </a:prstClr>
            </a:outerShdw>
          </a:effectLst>
        </p:spPr>
      </p:pic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4A0361F-EC69-8546-7D90-5CB57A00BFEE}"/>
              </a:ext>
            </a:extLst>
          </p:cNvPr>
          <p:cNvSpPr/>
          <p:nvPr/>
        </p:nvSpPr>
        <p:spPr>
          <a:xfrm>
            <a:off x="28575" y="610076"/>
            <a:ext cx="3028686" cy="73866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v1.0 - UI Genesis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Overcame legacy Tkinter rigidity &amp; History-Pane duplication bugs.</a:t>
            </a:r>
            <a:endParaRPr lang="en-IN" sz="1400" dirty="0">
              <a:solidFill>
                <a:schemeClr val="accent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5D8D2AF-17DB-606F-EE19-4807733BB718}"/>
              </a:ext>
            </a:extLst>
          </p:cNvPr>
          <p:cNvSpPr/>
          <p:nvPr/>
        </p:nvSpPr>
        <p:spPr>
          <a:xfrm>
            <a:off x="3952875" y="6119336"/>
            <a:ext cx="4286250" cy="73866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v4.0 - Core Engine Polish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Finalized grid geometry, integrated Fibonacci generators, and replaced eval() with an AST parser.</a:t>
            </a:r>
            <a:endParaRPr lang="en-IN" sz="1400" dirty="0">
              <a:solidFill>
                <a:schemeClr val="accent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C4412D5-D9AB-56BE-50E0-BB53CF011D3B}"/>
              </a:ext>
            </a:extLst>
          </p:cNvPr>
          <p:cNvSpPr/>
          <p:nvPr/>
        </p:nvSpPr>
        <p:spPr>
          <a:xfrm>
            <a:off x="9071874" y="610076"/>
            <a:ext cx="3066786" cy="73866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v6.1 - Monolithic Bottleneck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Parser failed on algebraic strings, so expanded into a Multi-Tool suite.</a:t>
            </a:r>
            <a:endParaRPr lang="en-IN" sz="1400" dirty="0">
              <a:solidFill>
                <a:schemeClr val="accent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539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1" grpId="0"/>
      <p:bldP spid="4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60F7B0F-EC06-7975-F6AB-5661248049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546" y="482393"/>
            <a:ext cx="2902956" cy="5322763"/>
          </a:xfrm>
          <a:prstGeom prst="rect">
            <a:avLst/>
          </a:prstGeom>
          <a:effectLst>
            <a:outerShdw blurRad="152400" dist="25400" dir="18900000" sx="101000" sy="101000" algn="bl" rotWithShape="0">
              <a:srgbClr val="000000">
                <a:alpha val="36863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6F085A-6524-B1A1-B3FB-F673ADB8F0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172" y="2456166"/>
            <a:ext cx="5422685" cy="4297680"/>
          </a:xfrm>
          <a:prstGeom prst="rect">
            <a:avLst/>
          </a:prstGeom>
          <a:effectLst>
            <a:outerShdw blurRad="152400" dist="25400" dir="18900000" sx="101000" sy="101000" algn="bl" rotWithShape="0">
              <a:srgbClr val="000000">
                <a:alpha val="36863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2ACF6DB-C99B-768A-1A63-67571D7A142F}"/>
              </a:ext>
            </a:extLst>
          </p:cNvPr>
          <p:cNvSpPr txBox="1"/>
          <p:nvPr/>
        </p:nvSpPr>
        <p:spPr>
          <a:xfrm>
            <a:off x="-183143" y="-99720"/>
            <a:ext cx="12375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</a:rPr>
              <a:t>Evolution Phase 2 (The Digi-ToolKit Journey)</a:t>
            </a:r>
            <a:endParaRPr lang="en-IN" sz="4000" b="1" dirty="0">
              <a:solidFill>
                <a:schemeClr val="accent1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355E44A-7CC9-4B4D-07FA-DA019E72D5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93" y="1431083"/>
            <a:ext cx="2902956" cy="5322763"/>
          </a:xfrm>
          <a:prstGeom prst="rect">
            <a:avLst/>
          </a:prstGeom>
          <a:effectLst>
            <a:outerShdw blurRad="152400" dist="25400" dir="18900000" sx="101000" sy="101000" algn="bl" rotWithShape="0">
              <a:srgbClr val="000000">
                <a:alpha val="36863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BADB95-46EB-7DB5-1889-B8B8A81CA9AA}"/>
              </a:ext>
            </a:extLst>
          </p:cNvPr>
          <p:cNvSpPr txBox="1"/>
          <p:nvPr/>
        </p:nvSpPr>
        <p:spPr>
          <a:xfrm>
            <a:off x="94194" y="608166"/>
            <a:ext cx="290295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v7.0 - The Algebra Pivot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Engineered the Smart Algebra tab powered by a 7-State Dispatcher.</a:t>
            </a:r>
            <a:endParaRPr lang="en-IN" sz="1400" dirty="0">
              <a:solidFill>
                <a:schemeClr val="accent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D164CB-CD35-32C9-8D64-0C9CC47B32FB}"/>
              </a:ext>
            </a:extLst>
          </p:cNvPr>
          <p:cNvSpPr txBox="1"/>
          <p:nvPr/>
        </p:nvSpPr>
        <p:spPr>
          <a:xfrm>
            <a:off x="3400942" y="5898553"/>
            <a:ext cx="28645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v7.5 - Smart Redirection</a:t>
            </a:r>
          </a:p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Implemented 450ms automatic cross-tab redirects and strict regex limits.</a:t>
            </a:r>
            <a:endParaRPr lang="en-IN" sz="1400" dirty="0">
              <a:solidFill>
                <a:schemeClr val="accent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0A1E59-A4A1-7800-7F37-FDC553B055AB}"/>
              </a:ext>
            </a:extLst>
          </p:cNvPr>
          <p:cNvSpPr txBox="1"/>
          <p:nvPr/>
        </p:nvSpPr>
        <p:spPr>
          <a:xfrm>
            <a:off x="6630899" y="1626592"/>
            <a:ext cx="537795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v7.6 - CalcSuite Pro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Final stable release. All core architectural fixes applied and Digi-ToolKit unified.</a:t>
            </a:r>
            <a:endParaRPr lang="en-IN" sz="1400" dirty="0">
              <a:solidFill>
                <a:schemeClr val="accent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2593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5FC35E2-AA7A-9910-5F78-C42114CBC067}"/>
              </a:ext>
            </a:extLst>
          </p:cNvPr>
          <p:cNvSpPr txBox="1"/>
          <p:nvPr/>
        </p:nvSpPr>
        <p:spPr>
          <a:xfrm>
            <a:off x="0" y="673596"/>
            <a:ext cx="120993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CalcSuite Pro successfully evolved from a fragile prototype into a stable, professional multi-tool workstation. </a:t>
            </a:r>
          </a:p>
          <a:p>
            <a:pPr algn="ctr"/>
            <a:r>
              <a:rPr lang="en-US" i="1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 proves that robust mathematical logic can seamlessly power an intuitive, fail-safe user experience.</a:t>
            </a:r>
            <a:endParaRPr lang="en-IN" i="1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82B70A-3F11-0CD6-359D-0E06A47216CC}"/>
              </a:ext>
            </a:extLst>
          </p:cNvPr>
          <p:cNvSpPr txBox="1"/>
          <p:nvPr/>
        </p:nvSpPr>
        <p:spPr>
          <a:xfrm>
            <a:off x="582930" y="-34290"/>
            <a:ext cx="105727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</a:rPr>
              <a:t>Conclusion &amp; Future Scope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075C05-DD4E-A678-6652-E5E249B2C667}"/>
              </a:ext>
            </a:extLst>
          </p:cNvPr>
          <p:cNvSpPr txBox="1"/>
          <p:nvPr/>
        </p:nvSpPr>
        <p:spPr>
          <a:xfrm>
            <a:off x="122872" y="1738650"/>
            <a:ext cx="5534977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📦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Standalone Executable (.exe):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Converting the core Python files into a standard, click-to-run desktop application for zero-dependency deployment.</a:t>
            </a:r>
          </a:p>
          <a:p>
            <a:pPr eaLnBrk="0" fontAlgn="base" hangingPunct="0">
              <a:spcBef>
                <a:spcPts val="1800"/>
              </a:spcBef>
              <a:spcAft>
                <a:spcPts val="800"/>
              </a:spcAft>
            </a:pPr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🌐 Web Migration (Streamlit):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Decoupling the backend logic to deploy the calculator as a high-performance browser-based web application.</a:t>
            </a:r>
          </a:p>
          <a:p>
            <a:pPr marR="0" lvl="0" indent="0" eaLnBrk="0" fontAlgn="base" hangingPunct="0">
              <a:lnSpc>
                <a:spcPct val="100000"/>
              </a:lnSpc>
              <a:spcBef>
                <a:spcPts val="1800"/>
              </a:spcBef>
              <a:spcAft>
                <a:spcPts val="800"/>
              </a:spcAft>
              <a:buClrTx/>
              <a:buSzTx/>
              <a:tabLst/>
            </a:pPr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📈 Graphing &amp; Visualization: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Engineering a dynamic plotting engine for the Scientific and Solvers tabs to visualize equations in real-time.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827C3A32-D850-81F9-ED64-4388FD978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4152" y="1738650"/>
            <a:ext cx="5657848" cy="51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Tx/>
              <a:buSzTx/>
              <a:tabLst/>
            </a:pPr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🔄 Live API Integration: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Connecting the Unit Converter to real-time internet data for live currency and commodity exchange rates.</a:t>
            </a:r>
          </a:p>
          <a:p>
            <a:pPr eaLnBrk="0" fontAlgn="base" hangingPunct="0">
              <a:spcBef>
                <a:spcPts val="1200"/>
              </a:spcBef>
              <a:spcAft>
                <a:spcPts val="800"/>
              </a:spcAft>
            </a:pPr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📊 BMI Health Analytics: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Expanding the BMI tab to store historical data and generate visual health-trend charts for users.</a:t>
            </a:r>
          </a:p>
          <a:p>
            <a:pPr marR="0" lvl="0" indent="0" eaLnBrk="0" fontAlgn="base" hangingPunct="0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tabLst/>
            </a:pPr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🔊 Accessibility Integration: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Implementing Text-to-Speech (TTS) and voice-navigation to assist users with visual impairments.</a:t>
            </a:r>
          </a:p>
          <a:p>
            <a:pPr eaLnBrk="0" fontAlgn="base" hangingPunct="0">
              <a:spcBef>
                <a:spcPts val="1200"/>
              </a:spcBef>
              <a:spcAft>
                <a:spcPts val="800"/>
              </a:spcAft>
            </a:pPr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🧩 Modular Math Packs: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Adding specialized modules for advanced calculus and solvers without altering the core 7-State Dispatcher.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2668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2" grpId="0" build="allAtOnce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84DC37-E128-0CB4-747F-6176E2505A04}"/>
              </a:ext>
            </a:extLst>
          </p:cNvPr>
          <p:cNvSpPr txBox="1"/>
          <p:nvPr/>
        </p:nvSpPr>
        <p:spPr>
          <a:xfrm>
            <a:off x="2993924" y="2559302"/>
            <a:ext cx="62041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b="1" dirty="0">
                <a:solidFill>
                  <a:srgbClr val="002060"/>
                </a:solidFill>
                <a:latin typeface="Bahnschrift" panose="020B0502040204020203" pitchFamily="34" charset="0"/>
              </a:rPr>
              <a:t>THANK 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6F94A9-6C9E-44BD-4C98-5021F098036B}"/>
              </a:ext>
            </a:extLst>
          </p:cNvPr>
          <p:cNvSpPr txBox="1"/>
          <p:nvPr/>
        </p:nvSpPr>
        <p:spPr>
          <a:xfrm>
            <a:off x="4072030" y="3699861"/>
            <a:ext cx="4503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41980077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3" grpId="0" build="allAtOnce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7921</TotalTime>
  <Words>4261</Words>
  <Application>Microsoft Office PowerPoint</Application>
  <PresentationFormat>Widescreen</PresentationFormat>
  <Paragraphs>378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Bahnschrift</vt:lpstr>
      <vt:lpstr>Calibri</vt:lpstr>
      <vt:lpstr>Calibri Light</vt:lpstr>
      <vt:lpstr>Segoe UI</vt:lpstr>
      <vt:lpstr>Office Theme</vt:lpstr>
      <vt:lpstr>PowerPoint Presentation</vt:lpstr>
      <vt:lpstr>Project Scope &amp; Requirements</vt:lpstr>
      <vt:lpstr>Architecture &amp; UI/UX</vt:lpstr>
      <vt:lpstr>Tab 1 - Scientific Engine &amp; Security</vt:lpstr>
      <vt:lpstr>Tab 1 - Scientific Engine (Advanced Features)</vt:lpstr>
      <vt:lpstr>Tab 3 - Smart Algebra (Engine Logic)</vt:lpstr>
      <vt:lpstr>Tab 3: Smart Algebra (Live Execution)</vt:lpstr>
      <vt:lpstr>Tab 2 - Structured Solvers</vt:lpstr>
      <vt:lpstr>Tab 4 - Dynamic BMI Analytics</vt:lpstr>
      <vt:lpstr>Tab 5 - Scientific Converter</vt:lpstr>
      <vt:lpstr>Unified History Architecture</vt:lpstr>
      <vt:lpstr>Defensive Architecture &amp; Troubleshooting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Yousuf Sakkaf</dc:creator>
  <cp:lastModifiedBy>Yousuf Sakkaf</cp:lastModifiedBy>
  <cp:revision>27</cp:revision>
  <cp:lastPrinted>2026-05-04T14:55:52Z</cp:lastPrinted>
  <dcterms:created xsi:type="dcterms:W3CDTF">2026-04-26T05:13:33Z</dcterms:created>
  <dcterms:modified xsi:type="dcterms:W3CDTF">2026-05-04T14:55:59Z</dcterms:modified>
</cp:coreProperties>
</file>